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lang="en-US" sz="1800" b="0" u="none" strike="noStrike">
                <a:solidFill>
                  <a:schemeClr val="dk1"/>
                </a:solidFill>
                <a:effectLst/>
                <a:uFillTx/>
                <a:latin typeface="Calibri"/>
              </a:rPr>
              <a:t>Pulse para desplazar la diapositiva</a:t>
            </a:r>
            <a:endParaRPr lang="en-US" sz="18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s-CO" sz="2000" b="0" u="none" strike="noStrike">
                <a:solidFill>
                  <a:srgbClr val="000000"/>
                </a:solidFill>
                <a:effectLst/>
                <a:uFillTx/>
                <a:latin typeface="Arial"/>
              </a:rPr>
              <a:t>Pulse para editar el formato de las notas</a:t>
            </a:r>
            <a:endParaRPr lang="es-CO"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s-CO" sz="1400" b="0" u="none" strike="noStrike">
                <a:solidFill>
                  <a:srgbClr val="000000"/>
                </a:solidFill>
                <a:effectLst/>
                <a:uFillTx/>
                <a:latin typeface="Times New Roman"/>
              </a:rPr>
              <a:t>&lt;cabecera&gt;</a:t>
            </a:r>
            <a:endParaRPr lang="es-CO"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rIns="0" tIns="0" bIns="0" anchor="t">
            <a:noAutofit/>
          </a:bodyPr>
          <a:lstStyle>
            <a:lvl1pPr indent="0" algn="r">
              <a:buNone/>
              <a:defRPr lang="es-CO" sz="1400" b="0" u="none" strike="noStrike">
                <a:solidFill>
                  <a:srgbClr val="000000"/>
                </a:solidFill>
                <a:effectLst/>
                <a:uFillTx/>
                <a:latin typeface="Times New Roman"/>
              </a:defRPr>
            </a:lvl1pPr>
          </a:lstStyle>
          <a:p>
            <a:pPr indent="0" algn="r">
              <a:buNone/>
            </a:pPr>
            <a:r>
              <a:rPr lang="es-CO" sz="1400" b="0" u="none" strike="noStrike">
                <a:solidFill>
                  <a:srgbClr val="000000"/>
                </a:solidFill>
                <a:effectLst/>
                <a:uFillTx/>
                <a:latin typeface="Times New Roman"/>
              </a:rPr>
              <a:t>&lt;fecha/hora&gt;</a:t>
            </a:r>
            <a:endParaRPr lang="es-CO"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rIns="0" tIns="0" bIns="0" anchor="b">
            <a:noAutofit/>
          </a:bodyPr>
          <a:lstStyle>
            <a:lvl1pPr indent="0">
              <a:buNone/>
              <a:defRPr lang="es-CO" sz="1400" b="0" u="none" strike="noStrike">
                <a:solidFill>
                  <a:srgbClr val="000000"/>
                </a:solidFill>
                <a:effectLst/>
                <a:uFillTx/>
                <a:latin typeface="Times New Roman"/>
              </a:defRPr>
            </a:lvl1pPr>
          </a:lstStyle>
          <a:p>
            <a:pPr indent="0">
              <a:buNone/>
            </a:pPr>
            <a:r>
              <a:rPr lang="es-CO" sz="1400" b="0" u="none" strike="noStrike">
                <a:solidFill>
                  <a:srgbClr val="000000"/>
                </a:solidFill>
                <a:effectLst/>
                <a:uFillTx/>
                <a:latin typeface="Times New Roman"/>
              </a:rPr>
              <a:t>&lt;pie de página&gt;</a:t>
            </a:r>
            <a:endParaRPr lang="es-CO"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rIns="0" tIns="0" bIns="0" anchor="b">
            <a:noAutofit/>
          </a:bodyPr>
          <a:lstStyle>
            <a:lvl1pPr indent="0" algn="r">
              <a:buNone/>
              <a:defRPr lang="es-CO" sz="1400" b="0" u="none" strike="noStrike">
                <a:solidFill>
                  <a:srgbClr val="000000"/>
                </a:solidFill>
                <a:effectLst/>
                <a:uFillTx/>
                <a:latin typeface="Times New Roman"/>
              </a:defRPr>
            </a:lvl1pPr>
          </a:lstStyle>
          <a:p>
            <a:pPr indent="0" algn="r">
              <a:buNone/>
            </a:pPr>
            <a:fld id="{91AFA2E1-1AA5-4735-AAC7-A816247CF12D}" type="slidenum">
              <a:rPr lang="es-CO" sz="1400" b="0" u="none" strike="noStrike">
                <a:solidFill>
                  <a:srgbClr val="000000"/>
                </a:solidFill>
                <a:effectLst/>
                <a:uFillTx/>
                <a:latin typeface="Times New Roman"/>
              </a:rPr>
              <a:t>&lt;número&gt;</a:t>
            </a:fld>
            <a:endParaRPr lang="es-CO"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1143000" y="685800"/>
            <a:ext cx="4571640" cy="3428640"/>
          </a:xfrm>
          <a:prstGeom prst="rect">
            <a:avLst/>
          </a:prstGeom>
          <a:ln w="0">
            <a:noFill/>
          </a:ln>
        </p:spPr>
      </p:sp>
      <p:sp>
        <p:nvSpPr>
          <p:cNvPr id="25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s-CO" sz="2000" b="0" u="none" strike="noStrike">
                <a:solidFill>
                  <a:srgbClr val="000000"/>
                </a:solidFill>
                <a:effectLst/>
                <a:uFillTx/>
                <a:latin typeface="Arial"/>
              </a:rPr>
              <a:t>Duración: 30–45 segundos.</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Di: “Buenos días. Hoy voy a explicar la geolocalización utilizando JavaScript. Primero veremos qué significa y cómo funciona en una página web. Después haré una demostración y, al final, les dejaré un ejercicio para desarrollar en su propio repositorio.”</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Completa tu nombre antes de presentar.</a:t>
            </a:r>
            <a:endParaRPr lang="es-CO" sz="2000" b="0" u="none" strike="noStrike">
              <a:solidFill>
                <a:srgbClr val="000000"/>
              </a:solidFill>
              <a:effectLst/>
              <a:uFillTx/>
              <a:latin typeface="Arial"/>
            </a:endParaRPr>
          </a:p>
        </p:txBody>
      </p:sp>
      <p:sp>
        <p:nvSpPr>
          <p:cNvPr id="259"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3B10991-71D1-4512-A3ED-6F57AD4DDA1A}" type="slidenum">
              <a:rPr lang="en-US" sz="1200" b="0" u="none" strike="noStrike">
                <a:solidFill>
                  <a:srgbClr val="000000"/>
                </a:solidFill>
                <a:effectLst/>
                <a:uFillTx/>
                <a:latin typeface="Times New Roman"/>
              </a:rPr>
              <a:t>&lt;número&gt;</a:t>
            </a:fld>
            <a:endParaRPr lang="es-CO"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1143000" y="685800"/>
            <a:ext cx="4571640" cy="3428640"/>
          </a:xfrm>
          <a:prstGeom prst="rect">
            <a:avLst/>
          </a:prstGeom>
          <a:ln w="0">
            <a:noFill/>
          </a:ln>
        </p:spPr>
      </p:sp>
      <p:sp>
        <p:nvSpPr>
          <p:cNvPr id="26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s-CO" sz="2000" b="0" u="none" strike="noStrike">
                <a:solidFill>
                  <a:srgbClr val="000000"/>
                </a:solidFill>
                <a:effectLst/>
                <a:uFillTx/>
                <a:latin typeface="Arial"/>
              </a:rPr>
              <a:t>Duración: 1 minuto.</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Di: “La geolocalización es el proceso de determinar la ubicación geográfica de un dispositivo. Se utiliza en mapas, aplicaciones de transporte, domicilios y servicios que muestran lugares cercanos. Por ejemplo, una página puede pedir nuestra ubicación para ayudarnos a encontrar una dirección. La ubicación no siempre es exacta: depende del dispositivo, las señales y las fuentes de posicionamiento disponibles.”</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Pregunta al curso: “¿Qué aplicaciones conocen que utilicen nuestra ubicación?”</a:t>
            </a:r>
            <a:endParaRPr lang="es-CO" sz="2000" b="0" u="none" strike="noStrike">
              <a:solidFill>
                <a:srgbClr val="000000"/>
              </a:solidFill>
              <a:effectLst/>
              <a:uFillTx/>
              <a:latin typeface="Arial"/>
            </a:endParaRPr>
          </a:p>
        </p:txBody>
      </p:sp>
      <p:sp>
        <p:nvSpPr>
          <p:cNvPr id="262"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0465CB8-E3CA-4D65-8766-B762B875C5DE}" type="slidenum">
              <a:rPr lang="en-US" sz="1200" b="0" u="none" strike="noStrike">
                <a:solidFill>
                  <a:srgbClr val="000000"/>
                </a:solidFill>
                <a:effectLst/>
                <a:uFillTx/>
                <a:latin typeface="Times New Roman"/>
              </a:rPr>
              <a:t>&lt;número&gt;</a:t>
            </a:fld>
            <a:endParaRPr lang="es-CO"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1143000" y="685800"/>
            <a:ext cx="4571640" cy="3428640"/>
          </a:xfrm>
          <a:prstGeom prst="rect">
            <a:avLst/>
          </a:prstGeom>
          <a:ln w="0">
            <a:noFill/>
          </a:ln>
        </p:spPr>
      </p:sp>
      <p:sp>
        <p:nvSpPr>
          <p:cNvPr id="26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s-CO" sz="2000" b="0" u="none" strike="noStrike">
                <a:solidFill>
                  <a:srgbClr val="000000"/>
                </a:solidFill>
                <a:effectLst/>
                <a:uFillTx/>
                <a:latin typeface="Arial"/>
              </a:rPr>
              <a:t>Duración: 1 minuto.</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Di: “En una página web, JavaScript no debería obtener la ubicación en secreto. El navegador solicita permiso. Si la persona lo autoriza, el navegador intenta determinar la posición con los recursos disponibles, por ejemplo GPS, redes Wi-Fi o información de red. Después entrega los datos a la página. Si el usuario rechaza el permiso, la posición no está disponible o la solicitud tarda demasiado, el programa debe manejar el error.”</a:t>
            </a:r>
            <a:endParaRPr lang="es-CO" sz="2000" b="0" u="none" strike="noStrike">
              <a:solidFill>
                <a:srgbClr val="000000"/>
              </a:solidFill>
              <a:effectLst/>
              <a:uFillTx/>
              <a:latin typeface="Arial"/>
            </a:endParaRPr>
          </a:p>
        </p:txBody>
      </p:sp>
      <p:sp>
        <p:nvSpPr>
          <p:cNvPr id="265"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83E0D86-CC84-4059-91AD-094EC0DC969A}" type="slidenum">
              <a:rPr lang="en-US" sz="1200" b="0" u="none" strike="noStrike">
                <a:solidFill>
                  <a:srgbClr val="000000"/>
                </a:solidFill>
                <a:effectLst/>
                <a:uFillTx/>
                <a:latin typeface="Times New Roman"/>
              </a:rPr>
              <a:t>&lt;número&gt;</a:t>
            </a:fld>
            <a:endParaRPr lang="es-CO"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1143000" y="685800"/>
            <a:ext cx="4571640" cy="3428640"/>
          </a:xfrm>
          <a:prstGeom prst="rect">
            <a:avLst/>
          </a:prstGeom>
          <a:ln w="0">
            <a:noFill/>
          </a:ln>
        </p:spPr>
      </p:sp>
      <p:sp>
        <p:nvSpPr>
          <p:cNvPr id="26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s-CO" sz="2000" b="0" u="none" strike="noStrike">
                <a:solidFill>
                  <a:srgbClr val="000000"/>
                </a:solidFill>
                <a:effectLst/>
                <a:uFillTx/>
                <a:latin typeface="Arial"/>
              </a:rPr>
              <a:t>Duración: 1 minuto.</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Di: “En JavaScript usamos la API de Geolocalización del navegador, accesible mediante navigator.geolocation. No hace falta instalar una librería para este ejemplo. getCurrentPosition() solicita una posición actual. watchPosition() sirve para recibir actualizaciones de la posición. En esta demostración utilizaré getCurrentPosition() porque solo necesito obtener una ubicación cuando el usuario presione un botón.”</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Señala que exito y error son funciones que se definirían en el programa.</a:t>
            </a:r>
            <a:endParaRPr lang="es-CO" sz="2000" b="0" u="none" strike="noStrike">
              <a:solidFill>
                <a:srgbClr val="000000"/>
              </a:solidFill>
              <a:effectLst/>
              <a:uFillTx/>
              <a:latin typeface="Arial"/>
            </a:endParaRPr>
          </a:p>
        </p:txBody>
      </p:sp>
      <p:sp>
        <p:nvSpPr>
          <p:cNvPr id="268"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92F29F3-BDA9-4659-A623-FF1DE348198E}" type="slidenum">
              <a:rPr lang="en-US" sz="1200" b="0" u="none" strike="noStrike">
                <a:solidFill>
                  <a:srgbClr val="000000"/>
                </a:solidFill>
                <a:effectLst/>
                <a:uFillTx/>
                <a:latin typeface="Times New Roman"/>
              </a:rPr>
              <a:t>&lt;número&gt;</a:t>
            </a:fld>
            <a:endParaRPr lang="es-CO"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1143000" y="685800"/>
            <a:ext cx="4571640" cy="3428640"/>
          </a:xfrm>
          <a:prstGeom prst="rect">
            <a:avLst/>
          </a:prstGeom>
          <a:ln w="0">
            <a:noFill/>
          </a:ln>
        </p:spPr>
      </p:sp>
      <p:sp>
        <p:nvSpPr>
          <p:cNvPr id="27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s-CO" sz="2000" b="0" u="none" strike="noStrike">
                <a:solidFill>
                  <a:srgbClr val="000000"/>
                </a:solidFill>
                <a:effectLst/>
                <a:uFillTx/>
                <a:latin typeface="Arial"/>
              </a:rPr>
              <a:t>Duración: 1 minuto.</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Di: “La latitud indica una posición al norte o al sur del ecuador. La longitud indica una posición al este o al oeste del meridiano de Greenwich. En JavaScript, estos valores están en position.coords.latitude y position.coords.longitude. También existe position.coords.accuracy, que representa la precisión estimada en metros. Una precisión de 50 metros no quiere decir que el dispositivo esté exactamente en ese punto; es una estimación del margen de incertidumbre.”</a:t>
            </a:r>
            <a:endParaRPr lang="es-CO" sz="2000" b="0" u="none" strike="noStrike">
              <a:solidFill>
                <a:srgbClr val="000000"/>
              </a:solidFill>
              <a:effectLst/>
              <a:uFillTx/>
              <a:latin typeface="Arial"/>
            </a:endParaRPr>
          </a:p>
        </p:txBody>
      </p:sp>
      <p:sp>
        <p:nvSpPr>
          <p:cNvPr id="271"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9539E0A-B8CD-42E5-AEC0-7D2F33F0136B}" type="slidenum">
              <a:rPr lang="en-US" sz="1200" b="0" u="none" strike="noStrike">
                <a:solidFill>
                  <a:srgbClr val="000000"/>
                </a:solidFill>
                <a:effectLst/>
                <a:uFillTx/>
                <a:latin typeface="Times New Roman"/>
              </a:rPr>
              <a:t>&lt;número&gt;</a:t>
            </a:fld>
            <a:endParaRPr lang="es-CO"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1143000" y="685800"/>
            <a:ext cx="4571640" cy="3428640"/>
          </a:xfrm>
          <a:prstGeom prst="rect">
            <a:avLst/>
          </a:prstGeom>
          <a:ln w="0">
            <a:noFill/>
          </a:ln>
        </p:spPr>
      </p:sp>
      <p:sp>
        <p:nvSpPr>
          <p:cNvPr id="27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s-CO" sz="2000" b="0" u="none" strike="noStrike">
                <a:solidFill>
                  <a:srgbClr val="000000"/>
                </a:solidFill>
                <a:effectLst/>
                <a:uFillTx/>
                <a:latin typeface="Arial"/>
              </a:rPr>
              <a:t>Duración: 1 minuto de explicación antes de la demo.</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Di: “El método recibe una función de éxito, una función de error y, opcionalmente, opciones. Si la ubicación se obtiene, se ejecuta la primera función y recibimos el objeto posicion. Si falla, se ejecuta la segunda. enableHighAccuracy pide intentar obtener una mejor precisión si el dispositivo puede ofrecerla; no garantiza exactitud y puede tardar más. timeout limita cuánto esperamos.”</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Aclara que console.log muestra los datos en la consola, mientras que en la página de la demostración se insertan en elementos HTML.</a:t>
            </a:r>
            <a:endParaRPr lang="es-CO" sz="2000" b="0" u="none" strike="noStrike">
              <a:solidFill>
                <a:srgbClr val="000000"/>
              </a:solidFill>
              <a:effectLst/>
              <a:uFillTx/>
              <a:latin typeface="Arial"/>
            </a:endParaRPr>
          </a:p>
        </p:txBody>
      </p:sp>
      <p:sp>
        <p:nvSpPr>
          <p:cNvPr id="274"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5F514E7-7879-405C-9297-A6AF06969F36}" type="slidenum">
              <a:rPr lang="en-US" sz="1200" b="0" u="none" strike="noStrike">
                <a:solidFill>
                  <a:srgbClr val="000000"/>
                </a:solidFill>
                <a:effectLst/>
                <a:uFillTx/>
                <a:latin typeface="Times New Roman"/>
              </a:rPr>
              <a:t>&lt;número&gt;</a:t>
            </a:fld>
            <a:endParaRPr lang="es-CO"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sldImg"/>
          </p:nvPr>
        </p:nvSpPr>
        <p:spPr>
          <a:xfrm>
            <a:off x="1143000" y="685800"/>
            <a:ext cx="4571640" cy="3428640"/>
          </a:xfrm>
          <a:prstGeom prst="rect">
            <a:avLst/>
          </a:prstGeom>
          <a:ln w="0">
            <a:noFill/>
          </a:ln>
        </p:spPr>
      </p:sp>
      <p:sp>
        <p:nvSpPr>
          <p:cNvPr id="27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s-CO" sz="2000" b="0" u="none" strike="noStrike">
                <a:solidFill>
                  <a:srgbClr val="000000"/>
                </a:solidFill>
                <a:effectLst/>
                <a:uFillTx/>
                <a:latin typeface="Arial"/>
              </a:rPr>
              <a:t>Duración: 2–3 minutos.</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Acción: cambia al navegador y muestra la carpeta ejemplo.</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Di: “Esta página tiene un botón. Al pulsarlo, JavaScript comprueba si el navegador dispone de la API y solicita la posición. Si funciona, aparecen la latitud, longitud y precisión, y un enlace para abrir las coordenadas en Google Maps. Si hay un error, se muestra un mensaje.”</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Pulsa el botón y explica la solicitud de permiso. Si funciona, señala cada resultado y abre el mapa si hay tiempo. Si falla, no pierdas demasiado tiempo: muestra el mensaje y explica que el código maneja el error.</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Requisito: ejecutar con Live Server/localhost o HTTPS. La ubicación real depende del dispositivo y del navegador.</a:t>
            </a:r>
            <a:endParaRPr lang="es-CO" sz="2000" b="0" u="none" strike="noStrike">
              <a:solidFill>
                <a:srgbClr val="000000"/>
              </a:solidFill>
              <a:effectLst/>
              <a:uFillTx/>
              <a:latin typeface="Arial"/>
            </a:endParaRPr>
          </a:p>
        </p:txBody>
      </p:sp>
      <p:sp>
        <p:nvSpPr>
          <p:cNvPr id="277"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2672A90-E4B6-435A-8ABD-C79839EF01C9}" type="slidenum">
              <a:rPr lang="en-US" sz="1200" b="0" u="none" strike="noStrike">
                <a:solidFill>
                  <a:srgbClr val="000000"/>
                </a:solidFill>
                <a:effectLst/>
                <a:uFillTx/>
                <a:latin typeface="Times New Roman"/>
              </a:rPr>
              <a:t>&lt;número&gt;</a:t>
            </a:fld>
            <a:endParaRPr lang="es-CO"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Img"/>
          </p:nvPr>
        </p:nvSpPr>
        <p:spPr>
          <a:xfrm>
            <a:off x="1143000" y="685800"/>
            <a:ext cx="4571640" cy="3428640"/>
          </a:xfrm>
          <a:prstGeom prst="rect">
            <a:avLst/>
          </a:prstGeom>
          <a:ln w="0">
            <a:noFill/>
          </a:ln>
        </p:spPr>
      </p:sp>
      <p:sp>
        <p:nvSpPr>
          <p:cNvPr id="27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s-CO" sz="2000" b="0" u="none" strike="noStrike">
                <a:solidFill>
                  <a:srgbClr val="000000"/>
                </a:solidFill>
                <a:effectLst/>
                <a:uFillTx/>
                <a:latin typeface="Arial"/>
              </a:rPr>
              <a:t>Duración: 1 minuto.</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Di: “Hay cuatro aspectos importantes. Primero, el usuario debe dar permiso. Segundo, la API requiere normalmente un contexto seguro, como HTTPS o localhost. Tercero, la precisión depende de las fuentes de posicionamiento y del entorno. Por último, la página debe manejar errores. Las coordenadas pueden revelar información sensible, así que debemos utilizarlas de forma responsable.”</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Códigos de error habituales: 1 permiso denegado, 2 posición no disponible, 3 tiempo de espera agotado.</a:t>
            </a:r>
            <a:endParaRPr lang="es-CO" sz="2000" b="0" u="none" strike="noStrike">
              <a:solidFill>
                <a:srgbClr val="000000"/>
              </a:solidFill>
              <a:effectLst/>
              <a:uFillTx/>
              <a:latin typeface="Arial"/>
            </a:endParaRPr>
          </a:p>
        </p:txBody>
      </p:sp>
      <p:sp>
        <p:nvSpPr>
          <p:cNvPr id="280"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B5572D3-51D4-4ECC-9FD8-AAE0A63955FF}" type="slidenum">
              <a:rPr lang="en-US" sz="1200" b="0" u="none" strike="noStrike">
                <a:solidFill>
                  <a:srgbClr val="000000"/>
                </a:solidFill>
                <a:effectLst/>
                <a:uFillTx/>
                <a:latin typeface="Times New Roman"/>
              </a:rPr>
              <a:t>&lt;número&gt;</a:t>
            </a:fld>
            <a:endParaRPr lang="es-CO"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1143000" y="685800"/>
            <a:ext cx="4571640" cy="3428640"/>
          </a:xfrm>
          <a:prstGeom prst="rect">
            <a:avLst/>
          </a:prstGeom>
          <a:ln w="0">
            <a:noFill/>
          </a:ln>
        </p:spPr>
      </p:sp>
      <p:sp>
        <p:nvSpPr>
          <p:cNvPr id="28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s-CO" sz="2000" b="0" u="none" strike="noStrike">
                <a:solidFill>
                  <a:srgbClr val="000000"/>
                </a:solidFill>
                <a:effectLst/>
                <a:uFillTx/>
                <a:latin typeface="Arial"/>
              </a:rPr>
              <a:t>Duración: 2–3 minutos para presentar el reto; si el profesor lo requiere, el trabajo puede continuar después.</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Di: “Ahora cada uno va a crear esta función en su propio repositorio. Deben tener un archivo HTML y otro JavaScript. El reto es crear un botón que solicite la ubicación, mostrar latitud y longitud, enseñar la precisión, crear un enlace a Google Maps y manejar los errores. Intenten resolverlo primero sin copiar el ejemplo completo.”</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Evaluación sugerida sobre 10: HTML 1 punto; solicitud de geolocalización 2; mostrar coordenadas y precisión 2; enlace al mapa 2; manejo de errores 2; organización y funcionamiento 1.</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La carpeta de práctica contiene una plantilla incompleta para entregar a los compañeros.</a:t>
            </a:r>
            <a:endParaRPr lang="es-CO" sz="2000" b="0" u="none" strike="noStrike">
              <a:solidFill>
                <a:srgbClr val="000000"/>
              </a:solidFill>
              <a:effectLst/>
              <a:uFillTx/>
              <a:latin typeface="Arial"/>
            </a:endParaRPr>
          </a:p>
        </p:txBody>
      </p:sp>
      <p:sp>
        <p:nvSpPr>
          <p:cNvPr id="283"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559DE80-4D62-4853-BB74-802DFBEC0DB4}" type="slidenum">
              <a:rPr lang="en-US" sz="1200" b="0" u="none" strike="noStrike">
                <a:solidFill>
                  <a:srgbClr val="000000"/>
                </a:solidFill>
                <a:effectLst/>
                <a:uFillTx/>
                <a:latin typeface="Times New Roman"/>
              </a:rPr>
              <a:t>&lt;número&gt;</a:t>
            </a:fld>
            <a:endParaRPr lang="es-CO"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1143000" y="685800"/>
            <a:ext cx="4571640" cy="3428640"/>
          </a:xfrm>
          <a:prstGeom prst="rect">
            <a:avLst/>
          </a:prstGeom>
          <a:ln w="0">
            <a:noFill/>
          </a:ln>
        </p:spPr>
      </p:sp>
      <p:sp>
        <p:nvSpPr>
          <p:cNvPr id="28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indent="0">
              <a:lnSpc>
                <a:spcPct val="100000"/>
              </a:lnSpc>
              <a:buNone/>
            </a:pPr>
            <a:r>
              <a:rPr lang="es-CO" sz="2000" b="0" u="none" strike="noStrike">
                <a:solidFill>
                  <a:srgbClr val="000000"/>
                </a:solidFill>
                <a:effectLst/>
                <a:uFillTx/>
                <a:latin typeface="Arial"/>
              </a:rPr>
              <a:t>Duración: 1 minuto.</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Di: “Para concluir, la geolocalización permite crear páginas web que reaccionan a la ubicación del usuario. JavaScript accede a esta función mediante la API del navegador, pero se necesita permiso y un contexto seguro. Además, las coordenadas pueden ser datos sensibles, así que solo debemos utilizarlas cuando sean necesarias y explicar para qué se van a usar. Muchas gracias. ¿Tienen alguna pregunta?”</a:t>
            </a:r>
            <a:endParaRPr lang="es-CO" sz="2000" b="0" u="none" strike="noStrike">
              <a:solidFill>
                <a:srgbClr val="000000"/>
              </a:solidFill>
              <a:effectLst/>
              <a:uFillTx/>
              <a:latin typeface="Arial"/>
            </a:endParaRPr>
          </a:p>
          <a:p>
            <a:pPr indent="0">
              <a:lnSpc>
                <a:spcPct val="100000"/>
              </a:lnSpc>
              <a:buNone/>
            </a:pPr>
            <a:r>
              <a:rPr lang="es-CO" sz="2000" b="0" u="none" strike="noStrike">
                <a:solidFill>
                  <a:srgbClr val="000000"/>
                </a:solidFill>
                <a:effectLst/>
                <a:uFillTx/>
                <a:latin typeface="Arial"/>
              </a:rPr>
              <a:t>Fuentes: https://developer.mozilla.org/es/docs/Web/API/Geolocation_API ; https://developer.mozilla.org/en-US/docs/Web/API/Geolocation/getCurrentPosition ; https://developer.mozilla.org/en-US/docs/Web/API/Geolocation/watchPosition</a:t>
            </a:r>
            <a:endParaRPr lang="es-CO" sz="2000" b="0" u="none" strike="noStrike">
              <a:solidFill>
                <a:srgbClr val="000000"/>
              </a:solidFill>
              <a:effectLst/>
              <a:uFillTx/>
              <a:latin typeface="Arial"/>
            </a:endParaRPr>
          </a:p>
        </p:txBody>
      </p:sp>
      <p:sp>
        <p:nvSpPr>
          <p:cNvPr id="286"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9E3B6FB-3D8B-4CC1-9F3A-A99514600586}" type="slidenum">
              <a:rPr lang="en-US" sz="1200" b="0" u="none" strike="noStrike">
                <a:solidFill>
                  <a:srgbClr val="000000"/>
                </a:solidFill>
                <a:effectLst/>
                <a:uFillTx/>
                <a:latin typeface="Times New Roman"/>
              </a:rPr>
              <a:t>&lt;número&gt;</a:t>
            </a:fld>
            <a:endParaRPr lang="es-CO"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 </a:t>
            </a:r>
            <a:endParaRPr lang="es-CO"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s-CO" sz="1400" b="0" u="none" strike="noStrike">
                <a:solidFill>
                  <a:srgbClr val="000000"/>
                </a:solidFill>
                <a:effectLst/>
                <a:uFillTx/>
                <a:latin typeface="Times New Roman"/>
              </a:defRPr>
            </a:lvl1pPr>
          </a:lstStyle>
          <a:p>
            <a:pPr indent="0" algn="ctr">
              <a:buNone/>
            </a:pPr>
            <a:r>
              <a:rPr lang="es-CO" sz="1400" b="0" u="none" strike="noStrike">
                <a:solidFill>
                  <a:srgbClr val="000000"/>
                </a:solidFill>
                <a:effectLst/>
                <a:uFillTx/>
                <a:latin typeface="Times New Roman"/>
              </a:rPr>
              <a:t> </a:t>
            </a:r>
            <a:endParaRPr lang="es-CO"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5807128-2ECD-4AC5-A918-D30A59C8BF50}" type="slidenum">
              <a:rPr lang="en-US" sz="1200" b="0" u="none" strike="noStrike">
                <a:solidFill>
                  <a:schemeClr val="dk1">
                    <a:tint val="75000"/>
                  </a:schemeClr>
                </a:solidFill>
                <a:effectLst/>
                <a:uFillTx/>
                <a:latin typeface="Calibri"/>
              </a:rPr>
              <a:t>10</a:t>
            </a:fld>
            <a:endParaRPr lang="es-CO"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 </a:t>
            </a:r>
            <a:endParaRPr lang="es-CO"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s-CO" sz="1400" b="0" u="none" strike="noStrike">
                <a:solidFill>
                  <a:srgbClr val="000000"/>
                </a:solidFill>
                <a:effectLst/>
                <a:uFillTx/>
                <a:latin typeface="Times New Roman"/>
              </a:defRPr>
            </a:lvl1pPr>
          </a:lstStyle>
          <a:p>
            <a:pPr indent="0" algn="ctr">
              <a:buNone/>
            </a:pPr>
            <a:r>
              <a:rPr lang="es-CO" sz="1400" b="0" u="none" strike="noStrike">
                <a:solidFill>
                  <a:srgbClr val="000000"/>
                </a:solidFill>
                <a:effectLst/>
                <a:uFillTx/>
                <a:latin typeface="Times New Roman"/>
              </a:rPr>
              <a:t> </a:t>
            </a:r>
            <a:endParaRPr lang="es-CO"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17164C8-CEC7-4AE3-8956-36D92A6478F0}" type="slidenum">
              <a:rPr lang="en-US" sz="1200" b="0" u="none" strike="noStrike">
                <a:solidFill>
                  <a:schemeClr val="dk1">
                    <a:tint val="75000"/>
                  </a:schemeClr>
                </a:solidFill>
                <a:effectLst/>
                <a:uFillTx/>
                <a:latin typeface="Calibri"/>
              </a:rPr>
              <a:t>10</a:t>
            </a:fld>
            <a:endParaRPr lang="es-CO"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 </a:t>
            </a:r>
            <a:endParaRPr lang="es-CO"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s-CO" sz="1400" b="0" u="none" strike="noStrike">
                <a:solidFill>
                  <a:srgbClr val="000000"/>
                </a:solidFill>
                <a:effectLst/>
                <a:uFillTx/>
                <a:latin typeface="Times New Roman"/>
              </a:defRPr>
            </a:lvl1pPr>
          </a:lstStyle>
          <a:p>
            <a:pPr indent="0" algn="ctr">
              <a:buNone/>
            </a:pPr>
            <a:r>
              <a:rPr lang="es-CO" sz="1400" b="0" u="none" strike="noStrike">
                <a:solidFill>
                  <a:srgbClr val="000000"/>
                </a:solidFill>
                <a:effectLst/>
                <a:uFillTx/>
                <a:latin typeface="Times New Roman"/>
              </a:rPr>
              <a:t> </a:t>
            </a:r>
            <a:endParaRPr lang="es-CO"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C6DEA45-82DB-4BCF-8957-1169CB946EBD}" type="slidenum">
              <a:rPr lang="en-US" sz="1200" b="0" u="none" strike="noStrike">
                <a:solidFill>
                  <a:schemeClr val="dk1">
                    <a:tint val="75000"/>
                  </a:schemeClr>
                </a:solidFill>
                <a:effectLst/>
                <a:uFillTx/>
                <a:latin typeface="Calibri"/>
              </a:rPr>
              <a:t>10</a:t>
            </a:fld>
            <a:endParaRPr lang="es-CO"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 </a:t>
            </a:r>
            <a:endParaRPr lang="es-CO"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s-CO" sz="1400" b="0" u="none" strike="noStrike">
                <a:solidFill>
                  <a:srgbClr val="000000"/>
                </a:solidFill>
                <a:effectLst/>
                <a:uFillTx/>
                <a:latin typeface="Times New Roman"/>
              </a:defRPr>
            </a:lvl1pPr>
          </a:lstStyle>
          <a:p>
            <a:pPr indent="0" algn="ctr">
              <a:buNone/>
            </a:pPr>
            <a:r>
              <a:rPr lang="es-CO" sz="1400" b="0" u="none" strike="noStrike">
                <a:solidFill>
                  <a:srgbClr val="000000"/>
                </a:solidFill>
                <a:effectLst/>
                <a:uFillTx/>
                <a:latin typeface="Times New Roman"/>
              </a:rPr>
              <a:t> </a:t>
            </a:r>
            <a:endParaRPr lang="es-CO"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52C9130-A12C-4AD4-8215-C18AA251871F}" type="slidenum">
              <a:rPr lang="en-US" sz="1200" b="0" u="none" strike="noStrike">
                <a:solidFill>
                  <a:schemeClr val="dk1">
                    <a:tint val="75000"/>
                  </a:schemeClr>
                </a:solidFill>
                <a:effectLst/>
                <a:uFillTx/>
                <a:latin typeface="Calibri"/>
              </a:rPr>
              <a:t>10</a:t>
            </a:fld>
            <a:endParaRPr lang="es-CO"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lang="en-US" sz="4000" b="1" u="none" strike="noStrike" cap="all">
                <a:solidFill>
                  <a:schemeClr val="dk1"/>
                </a:solidFill>
                <a:effectLst/>
                <a:uFillTx/>
                <a:latin typeface="Calibri"/>
              </a:rPr>
              <a:t>Click to edit Master title style</a:t>
            </a:r>
            <a:endParaRPr lang="en-US" sz="4000" b="0" u="none" strike="noStrike">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 </a:t>
            </a:r>
            <a:endParaRPr lang="es-CO"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s-CO" sz="1400" b="0" u="none" strike="noStrike">
                <a:solidFill>
                  <a:srgbClr val="000000"/>
                </a:solidFill>
                <a:effectLst/>
                <a:uFillTx/>
                <a:latin typeface="Times New Roman"/>
              </a:defRPr>
            </a:lvl1pPr>
          </a:lstStyle>
          <a:p>
            <a:pPr indent="0" algn="ctr">
              <a:buNone/>
            </a:pPr>
            <a:r>
              <a:rPr lang="es-CO" sz="1400" b="0" u="none" strike="noStrike">
                <a:solidFill>
                  <a:srgbClr val="000000"/>
                </a:solidFill>
                <a:effectLst/>
                <a:uFillTx/>
                <a:latin typeface="Times New Roman"/>
              </a:rPr>
              <a:t> </a:t>
            </a:r>
            <a:endParaRPr lang="es-CO"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2FE83F4-BFAE-4F02-B4D4-EA6C640F4CC9}" type="slidenum">
              <a:rPr lang="en-US" sz="1200" b="0" u="none" strike="noStrike">
                <a:solidFill>
                  <a:schemeClr val="dk1">
                    <a:tint val="75000"/>
                  </a:schemeClr>
                </a:solidFill>
                <a:effectLst/>
                <a:uFillTx/>
                <a:latin typeface="Calibri"/>
              </a:rPr>
              <a:t>10</a:t>
            </a:fld>
            <a:endParaRPr lang="es-CO"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 </a:t>
            </a:r>
            <a:endParaRPr lang="es-CO"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s-CO" sz="1400" b="0" u="none" strike="noStrike">
                <a:solidFill>
                  <a:srgbClr val="000000"/>
                </a:solidFill>
                <a:effectLst/>
                <a:uFillTx/>
                <a:latin typeface="Times New Roman"/>
              </a:defRPr>
            </a:lvl1pPr>
          </a:lstStyle>
          <a:p>
            <a:pPr indent="0" algn="ctr">
              <a:buNone/>
            </a:pPr>
            <a:r>
              <a:rPr lang="es-CO" sz="1400" b="0" u="none" strike="noStrike">
                <a:solidFill>
                  <a:srgbClr val="000000"/>
                </a:solidFill>
                <a:effectLst/>
                <a:uFillTx/>
                <a:latin typeface="Times New Roman"/>
              </a:rPr>
              <a:t> </a:t>
            </a:r>
            <a:endParaRPr lang="es-CO"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C73875B-A77C-4C13-9E88-2EE8C960E7B8}" type="slidenum">
              <a:rPr lang="en-US" sz="1200" b="0" u="none" strike="noStrike">
                <a:solidFill>
                  <a:schemeClr val="dk1">
                    <a:tint val="75000"/>
                  </a:schemeClr>
                </a:solidFill>
                <a:effectLst/>
                <a:uFillTx/>
                <a:latin typeface="Calibri"/>
              </a:rPr>
              <a:t>10</a:t>
            </a:fld>
            <a:endParaRPr lang="es-CO"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 </a:t>
            </a:r>
            <a:endParaRPr lang="es-CO"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s-CO" sz="1400" b="0" u="none" strike="noStrike">
                <a:solidFill>
                  <a:srgbClr val="000000"/>
                </a:solidFill>
                <a:effectLst/>
                <a:uFillTx/>
                <a:latin typeface="Times New Roman"/>
              </a:defRPr>
            </a:lvl1pPr>
          </a:lstStyle>
          <a:p>
            <a:pPr indent="0" algn="ctr">
              <a:buNone/>
            </a:pPr>
            <a:r>
              <a:rPr lang="es-CO" sz="1400" b="0" u="none" strike="noStrike">
                <a:solidFill>
                  <a:srgbClr val="000000"/>
                </a:solidFill>
                <a:effectLst/>
                <a:uFillTx/>
                <a:latin typeface="Times New Roman"/>
              </a:rPr>
              <a:t> </a:t>
            </a:r>
            <a:endParaRPr lang="es-CO"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D1B6C92-B546-4DFF-B4AD-73851F6C0920}" type="slidenum">
              <a:rPr lang="en-US" sz="1200" b="0" u="none" strike="noStrike">
                <a:solidFill>
                  <a:schemeClr val="dk1">
                    <a:tint val="75000"/>
                  </a:schemeClr>
                </a:solidFill>
                <a:effectLst/>
                <a:uFillTx/>
                <a:latin typeface="Calibri"/>
              </a:rPr>
              <a:t>10</a:t>
            </a:fld>
            <a:endParaRPr lang="es-CO"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 </a:t>
            </a:r>
            <a:endParaRPr lang="es-CO"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s-CO" sz="1400" b="0" u="none" strike="noStrike">
                <a:solidFill>
                  <a:srgbClr val="000000"/>
                </a:solidFill>
                <a:effectLst/>
                <a:uFillTx/>
                <a:latin typeface="Times New Roman"/>
              </a:defRPr>
            </a:lvl1pPr>
          </a:lstStyle>
          <a:p>
            <a:pPr indent="0" algn="ctr">
              <a:buNone/>
            </a:pPr>
            <a:r>
              <a:rPr lang="es-CO" sz="1400" b="0" u="none" strike="noStrike">
                <a:solidFill>
                  <a:srgbClr val="000000"/>
                </a:solidFill>
                <a:effectLst/>
                <a:uFillTx/>
                <a:latin typeface="Times New Roman"/>
              </a:rPr>
              <a:t> </a:t>
            </a:r>
            <a:endParaRPr lang="es-CO"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6805B2C-CA14-4ACF-B053-9E1D8D086CDA}" type="slidenum">
              <a:rPr lang="en-US" sz="1200" b="0" u="none" strike="noStrike">
                <a:solidFill>
                  <a:schemeClr val="dk1">
                    <a:tint val="75000"/>
                  </a:schemeClr>
                </a:solidFill>
                <a:effectLst/>
                <a:uFillTx/>
                <a:latin typeface="Calibri"/>
              </a:rPr>
              <a:t>10</a:t>
            </a:fld>
            <a:endParaRPr lang="es-CO"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 </a:t>
            </a:r>
            <a:endParaRPr lang="es-CO"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s-CO" sz="1400" b="0" u="none" strike="noStrike">
                <a:solidFill>
                  <a:srgbClr val="000000"/>
                </a:solidFill>
                <a:effectLst/>
                <a:uFillTx/>
                <a:latin typeface="Times New Roman"/>
              </a:defRPr>
            </a:lvl1pPr>
          </a:lstStyle>
          <a:p>
            <a:pPr indent="0" algn="ctr">
              <a:buNone/>
            </a:pPr>
            <a:r>
              <a:rPr lang="es-CO" sz="1400" b="0" u="none" strike="noStrike">
                <a:solidFill>
                  <a:srgbClr val="000000"/>
                </a:solidFill>
                <a:effectLst/>
                <a:uFillTx/>
                <a:latin typeface="Times New Roman"/>
              </a:rPr>
              <a:t> </a:t>
            </a:r>
            <a:endParaRPr lang="es-CO"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C9A4085-3DF4-4940-A77C-7C4E97749FB4}" type="slidenum">
              <a:rPr lang="en-US" sz="1200" b="0" u="none" strike="noStrike">
                <a:solidFill>
                  <a:schemeClr val="dk1">
                    <a:tint val="75000"/>
                  </a:schemeClr>
                </a:solidFill>
                <a:effectLst/>
                <a:uFillTx/>
                <a:latin typeface="Calibri"/>
              </a:rPr>
              <a:t>10</a:t>
            </a:fld>
            <a:endParaRPr lang="es-CO"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lang="en-US" sz="1800" b="0" u="none" strike="noStrike">
                <a:solidFill>
                  <a:schemeClr val="dk1"/>
                </a:solidFill>
                <a:effectLst/>
                <a:uFillTx/>
                <a:latin typeface="Calibri"/>
              </a:rPr>
              <a:t>Pulse para editar el formato del texto de título</a:t>
            </a:r>
            <a:endParaRPr lang="en-US" sz="18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Pulse para editar el formato de texto del esquema</a:t>
            </a:r>
            <a:endParaRPr lang="en-U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Segundo nivel del esquema</a:t>
            </a:r>
            <a:endParaRPr lang="en-U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Tercer nivel del esquema</a:t>
            </a:r>
            <a:endParaRPr lang="en-U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Cuarto nivel del esquema</a:t>
            </a:r>
            <a:endParaRPr lang="en-U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Quinto nivel del esquema</a:t>
            </a:r>
            <a:endParaRPr lang="en-U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Sexto nivel del esquema</a:t>
            </a:r>
            <a:endParaRPr lang="en-U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Séptimo nivel del esquema</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&lt;fecha/hora&gt;</a:t>
            </a:r>
            <a:endParaRPr lang="es-CO"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s-CO" sz="1400" b="0" u="none" strike="noStrike">
                <a:solidFill>
                  <a:srgbClr val="000000"/>
                </a:solidFill>
                <a:effectLst/>
                <a:uFillTx/>
                <a:latin typeface="Times New Roman"/>
              </a:defRPr>
            </a:lvl1pPr>
          </a:lstStyle>
          <a:p>
            <a:pPr indent="0" algn="ctr">
              <a:buNone/>
            </a:pPr>
            <a:r>
              <a:rPr lang="es-CO" sz="1400" b="0" u="none" strike="noStrike">
                <a:solidFill>
                  <a:srgbClr val="000000"/>
                </a:solidFill>
                <a:effectLst/>
                <a:uFillTx/>
                <a:latin typeface="Times New Roman"/>
              </a:rPr>
              <a:t>&lt;pie de página&gt;</a:t>
            </a:r>
            <a:endParaRPr lang="es-CO"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E1DDCF5-DCD3-40BC-8A62-751922A30A74}" type="slidenum">
              <a:rPr lang="en-US" sz="1200" b="0" u="none" strike="noStrike">
                <a:solidFill>
                  <a:schemeClr val="dk1">
                    <a:tint val="75000"/>
                  </a:schemeClr>
                </a:solidFill>
                <a:effectLst/>
                <a:uFillTx/>
                <a:latin typeface="Calibri"/>
              </a:rPr>
              <a:t>&lt;número&gt;</a:t>
            </a:fld>
            <a:endParaRPr lang="es-CO"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Pulse para editar el formato de texto del esquema</a:t>
            </a:r>
            <a:endParaRPr lang="en-U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US" sz="3200" b="0" u="none" strike="noStrike">
                <a:solidFill>
                  <a:schemeClr val="dk1"/>
                </a:solidFill>
                <a:effectLst/>
                <a:uFillTx/>
                <a:latin typeface="Calibri"/>
              </a:rPr>
              <a:t>Segundo nivel del esquema</a:t>
            </a:r>
            <a:endParaRPr lang="en-US" sz="32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US" sz="3200" b="0" u="none" strike="noStrike">
                <a:solidFill>
                  <a:schemeClr val="dk1"/>
                </a:solidFill>
                <a:effectLst/>
                <a:uFillTx/>
                <a:latin typeface="Calibri"/>
              </a:rPr>
              <a:t>Tercer nivel del esquema</a:t>
            </a:r>
            <a:endParaRPr lang="en-US" sz="32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US" sz="3200" b="0" u="none" strike="noStrike">
                <a:solidFill>
                  <a:schemeClr val="dk1"/>
                </a:solidFill>
                <a:effectLst/>
                <a:uFillTx/>
                <a:latin typeface="Calibri"/>
              </a:rPr>
              <a:t>Cuarto nivel del esquema</a:t>
            </a:r>
            <a:endParaRPr lang="en-US" sz="32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Quinto nivel del esquema</a:t>
            </a:r>
            <a:endParaRPr lang="en-US" sz="32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Sexto nivel del esquema</a:t>
            </a:r>
            <a:endParaRPr lang="en-US" sz="32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US" sz="3200" b="0" u="none" strike="noStrike">
                <a:solidFill>
                  <a:schemeClr val="dk1"/>
                </a:solidFill>
                <a:effectLst/>
                <a:uFillTx/>
                <a:latin typeface="Calibri"/>
              </a:rPr>
              <a:t>Séptimo nivel del esquema</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lang="en-US" sz="1200" b="0" u="none" strike="noStrike">
                <a:solidFill>
                  <a:schemeClr val="dk1">
                    <a:tint val="75000"/>
                  </a:schemeClr>
                </a:solidFill>
                <a:effectLst/>
                <a:uFillTx/>
                <a:latin typeface="Calibri"/>
              </a:defRPr>
            </a:lvl1pPr>
          </a:lstStyle>
          <a:p>
            <a:pPr indent="0" defTabSz="457200">
              <a:lnSpc>
                <a:spcPct val="100000"/>
              </a:lnSpc>
              <a:buNone/>
            </a:pPr>
            <a:r>
              <a:rPr lang="en-US" sz="1200" b="0" u="none" strike="noStrike">
                <a:solidFill>
                  <a:schemeClr val="dk1">
                    <a:tint val="75000"/>
                  </a:schemeClr>
                </a:solidFill>
                <a:effectLst/>
                <a:uFillTx/>
                <a:latin typeface="Calibri"/>
              </a:rPr>
              <a:t>&lt;fecha/hora&gt;</a:t>
            </a:r>
            <a:endParaRPr lang="es-CO"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lang="es-CO" sz="1400" b="0" u="none" strike="noStrike">
                <a:solidFill>
                  <a:srgbClr val="000000"/>
                </a:solidFill>
                <a:effectLst/>
                <a:uFillTx/>
                <a:latin typeface="Times New Roman"/>
              </a:defRPr>
            </a:lvl1pPr>
          </a:lstStyle>
          <a:p>
            <a:pPr indent="0" algn="ctr">
              <a:buNone/>
            </a:pPr>
            <a:r>
              <a:rPr lang="es-CO" sz="1400" b="0" u="none" strike="noStrike">
                <a:solidFill>
                  <a:srgbClr val="000000"/>
                </a:solidFill>
                <a:effectLst/>
                <a:uFillTx/>
                <a:latin typeface="Times New Roman"/>
              </a:rPr>
              <a:t>&lt;pie de página&gt;</a:t>
            </a:r>
            <a:endParaRPr lang="es-CO"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68B1752-639A-4AA5-98DB-DC7E5A0A4B76}" type="slidenum">
              <a:rPr lang="en-US" sz="1200" b="0" u="none" strike="noStrike">
                <a:solidFill>
                  <a:schemeClr val="dk1">
                    <a:tint val="75000"/>
                  </a:schemeClr>
                </a:solidFill>
                <a:effectLst/>
                <a:uFillTx/>
                <a:latin typeface="Calibri"/>
              </a:rPr>
              <a:t>&lt;número&gt;</a:t>
            </a:fld>
            <a:endParaRPr lang="es-CO"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d1d"/>
        </a:solidFill>
      </p:bgPr>
    </p:bg>
    <p:spTree>
      <p:nvGrpSpPr>
        <p:cNvPr id="1" name=""/>
        <p:cNvGrpSpPr/>
        <p:nvPr/>
      </p:nvGrpSpPr>
      <p:grpSpPr>
        <a:xfrm>
          <a:off x="0" y="0"/>
          <a:ext cx="0" cy="0"/>
          <a:chOff x="0" y="0"/>
          <a:chExt cx="0" cy="0"/>
        </a:xfrm>
      </p:grpSpPr>
      <p:sp>
        <p:nvSpPr>
          <p:cNvPr id="67" name="Oval 1"/>
          <p:cNvSpPr/>
          <p:nvPr/>
        </p:nvSpPr>
        <p:spPr>
          <a:xfrm>
            <a:off x="10607040" y="-548640"/>
            <a:ext cx="2377080" cy="2377080"/>
          </a:xfrm>
          <a:prstGeom prst="ellipse">
            <a:avLst/>
          </a:prstGeom>
          <a:solidFill>
            <a:srgbClr val="498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68" name="Oval 2"/>
          <p:cNvSpPr/>
          <p:nvPr/>
        </p:nvSpPr>
        <p:spPr>
          <a:xfrm>
            <a:off x="-822960" y="5394960"/>
            <a:ext cx="1828440" cy="1828440"/>
          </a:xfrm>
          <a:prstGeom prst="ellipse">
            <a:avLst/>
          </a:prstGeom>
          <a:solidFill>
            <a:srgbClr val="9b6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69" name="Oval 3"/>
          <p:cNvSpPr/>
          <p:nvPr/>
        </p:nvSpPr>
        <p:spPr>
          <a:xfrm>
            <a:off x="9875520" y="5852160"/>
            <a:ext cx="1096920" cy="1096920"/>
          </a:xfrm>
          <a:prstGeom prst="ellipse">
            <a:avLst/>
          </a:prstGeom>
          <a:solidFill>
            <a:srgbClr val="2bdc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0" name="Oval 4"/>
          <p:cNvSpPr/>
          <p:nvPr/>
        </p:nvSpPr>
        <p:spPr>
          <a:xfrm>
            <a:off x="7955280" y="1508760"/>
            <a:ext cx="3017160" cy="3017160"/>
          </a:xfrm>
          <a:prstGeom prst="ellipse">
            <a:avLst/>
          </a:prstGeom>
          <a:solidFill>
            <a:srgbClr val="2bdceb"/>
          </a:solidFill>
          <a:ln w="25400">
            <a:solidFill>
              <a:srgbClr val="2bdc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1" name="Oval 5"/>
          <p:cNvSpPr/>
          <p:nvPr/>
        </p:nvSpPr>
        <p:spPr>
          <a:xfrm>
            <a:off x="8344080" y="1897200"/>
            <a:ext cx="2239920" cy="2239920"/>
          </a:xfrm>
          <a:prstGeom prst="ellipse">
            <a:avLst/>
          </a:prstGeom>
          <a:solidFill>
            <a:srgbClr val="4984ff"/>
          </a:solidFill>
          <a:ln w="25400">
            <a:solidFill>
              <a:srgbClr val="498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2" name="Oval 6"/>
          <p:cNvSpPr/>
          <p:nvPr/>
        </p:nvSpPr>
        <p:spPr>
          <a:xfrm>
            <a:off x="8778240" y="2331720"/>
            <a:ext cx="1371240" cy="1371240"/>
          </a:xfrm>
          <a:prstGeom prst="ellipse">
            <a:avLst/>
          </a:prstGeom>
          <a:solidFill>
            <a:srgbClr val="9b64ff"/>
          </a:solidFill>
          <a:ln w="25400">
            <a:solidFill>
              <a:srgbClr val="9b6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3" name="TextBox 8"/>
          <p:cNvSpPr/>
          <p:nvPr/>
        </p:nvSpPr>
        <p:spPr>
          <a:xfrm>
            <a:off x="731520" y="1508760"/>
            <a:ext cx="6583320" cy="1371240"/>
          </a:xfrm>
          <a:prstGeom prst="rect">
            <a:avLst/>
          </a:prstGeom>
          <a:noFill/>
          <a:ln w="0">
            <a:noFill/>
          </a:ln>
        </p:spPr>
        <p:style>
          <a:lnRef idx="0"/>
          <a:fillRef idx="0"/>
          <a:effectRef idx="0"/>
          <a:fontRef idx="minor"/>
        </p:style>
        <p:txBody>
          <a:bodyPr lIns="36720" rIns="36720" tIns="36720" bIns="36720" anchor="t">
            <a:spAutoFit/>
          </a:bodyPr>
          <a:p>
            <a:r>
              <a:rPr lang="en-US" sz="3400" b="1" u="none" strike="noStrike">
                <a:solidFill>
                  <a:srgbClr val="f2f7ff"/>
                </a:solidFill>
                <a:effectLst/>
                <a:uFillTx/>
                <a:latin typeface="Aptos"/>
              </a:rPr>
              <a:t>Geolocalización</a:t>
            </a:r>
            <a:endParaRPr lang="es-CO" sz="3400" b="0" u="none" strike="noStrike">
              <a:solidFill>
                <a:srgbClr val="ffffff"/>
              </a:solidFill>
              <a:effectLst/>
              <a:uFillTx/>
              <a:latin typeface="Arial"/>
            </a:endParaRPr>
          </a:p>
          <a:p>
            <a:pPr defTabSz="457200">
              <a:lnSpc>
                <a:spcPct val="100000"/>
              </a:lnSpc>
            </a:pPr>
            <a:r>
              <a:rPr lang="en-US" sz="3400" b="1" u="none" strike="noStrike">
                <a:solidFill>
                  <a:srgbClr val="f2f7ff"/>
                </a:solidFill>
                <a:effectLst/>
                <a:uFillTx/>
                <a:latin typeface="Aptos"/>
              </a:rPr>
              <a:t>con JavaScript</a:t>
            </a:r>
            <a:endParaRPr lang="es-CO" sz="3400" b="0" u="none" strike="noStrike">
              <a:solidFill>
                <a:srgbClr val="ffffff"/>
              </a:solidFill>
              <a:effectLst/>
              <a:uFillTx/>
              <a:latin typeface="Arial"/>
            </a:endParaRPr>
          </a:p>
        </p:txBody>
      </p:sp>
      <p:sp>
        <p:nvSpPr>
          <p:cNvPr id="74" name="TextBox 9"/>
          <p:cNvSpPr/>
          <p:nvPr/>
        </p:nvSpPr>
        <p:spPr>
          <a:xfrm>
            <a:off x="804600" y="3246120"/>
            <a:ext cx="5851800" cy="731160"/>
          </a:xfrm>
          <a:prstGeom prst="rect">
            <a:avLst/>
          </a:prstGeom>
          <a:noFill/>
          <a:ln w="0">
            <a:noFill/>
          </a:ln>
        </p:spPr>
        <p:style>
          <a:lnRef idx="0"/>
          <a:fillRef idx="0"/>
          <a:effectRef idx="0"/>
          <a:fontRef idx="minor"/>
        </p:style>
        <p:txBody>
          <a:bodyPr lIns="36720" rIns="36720" tIns="36720" bIns="36720" anchor="t">
            <a:spAutoFit/>
          </a:bodyPr>
          <a:p>
            <a:r>
              <a:rPr lang="en-US" sz="1800" b="0" u="none" strike="noStrike">
                <a:solidFill>
                  <a:srgbClr val="a6b7d3"/>
                </a:solidFill>
                <a:effectLst/>
                <a:uFillTx/>
                <a:latin typeface="Aptos"/>
              </a:rPr>
              <a:t>Cómo obtener coordenadas desde el navegador,</a:t>
            </a:r>
            <a:endParaRPr lang="es-CO" sz="1800" b="0" u="none" strike="noStrike">
              <a:solidFill>
                <a:srgbClr val="ffffff"/>
              </a:solidFill>
              <a:effectLst/>
              <a:uFillTx/>
              <a:latin typeface="Arial"/>
            </a:endParaRPr>
          </a:p>
          <a:p>
            <a:pPr defTabSz="457200">
              <a:lnSpc>
                <a:spcPct val="100000"/>
              </a:lnSpc>
            </a:pPr>
            <a:r>
              <a:rPr lang="en-US" sz="1800" b="0" u="none" strike="noStrike">
                <a:solidFill>
                  <a:srgbClr val="a6b7d3"/>
                </a:solidFill>
                <a:effectLst/>
                <a:uFillTx/>
                <a:latin typeface="Aptos"/>
              </a:rPr>
              <a:t>interpretarlas y usarlas en una página web.</a:t>
            </a:r>
            <a:endParaRPr lang="es-CO" sz="1800" b="0" u="none" strike="noStrike">
              <a:solidFill>
                <a:srgbClr val="ffffff"/>
              </a:solidFill>
              <a:effectLst/>
              <a:uFillTx/>
              <a:latin typeface="Arial"/>
            </a:endParaRPr>
          </a:p>
        </p:txBody>
      </p:sp>
      <p:sp>
        <p:nvSpPr>
          <p:cNvPr id="75" name="TextBox 13"/>
          <p:cNvSpPr/>
          <p:nvPr/>
        </p:nvSpPr>
        <p:spPr>
          <a:xfrm>
            <a:off x="11064240" y="6446520"/>
            <a:ext cx="502560" cy="2282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lang="en-US" sz="1000" b="1" u="none" strike="noStrike">
                <a:solidFill>
                  <a:srgbClr val="a6b7d3"/>
                </a:solidFill>
                <a:effectLst/>
                <a:uFillTx/>
                <a:latin typeface="Aptos"/>
              </a:rPr>
              <a:t>01/10</a:t>
            </a:r>
            <a:endParaRPr lang="es-CO"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d1d"/>
        </a:solidFill>
      </p:bgPr>
    </p:bg>
    <p:spTree>
      <p:nvGrpSpPr>
        <p:cNvPr id="1" name=""/>
        <p:cNvGrpSpPr/>
        <p:nvPr/>
      </p:nvGrpSpPr>
      <p:grpSpPr>
        <a:xfrm>
          <a:off x="0" y="0"/>
          <a:ext cx="0" cy="0"/>
          <a:chOff x="0" y="0"/>
          <a:chExt cx="0" cy="0"/>
        </a:xfrm>
      </p:grpSpPr>
      <p:sp>
        <p:nvSpPr>
          <p:cNvPr id="76" name="Oval 1"/>
          <p:cNvSpPr/>
          <p:nvPr/>
        </p:nvSpPr>
        <p:spPr>
          <a:xfrm>
            <a:off x="10607040" y="-548640"/>
            <a:ext cx="2377080" cy="2377080"/>
          </a:xfrm>
          <a:prstGeom prst="ellipse">
            <a:avLst/>
          </a:prstGeom>
          <a:solidFill>
            <a:srgbClr val="498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7" name="Oval 2"/>
          <p:cNvSpPr/>
          <p:nvPr/>
        </p:nvSpPr>
        <p:spPr>
          <a:xfrm>
            <a:off x="-822960" y="5394960"/>
            <a:ext cx="1828440" cy="1828440"/>
          </a:xfrm>
          <a:prstGeom prst="ellipse">
            <a:avLst/>
          </a:prstGeom>
          <a:solidFill>
            <a:srgbClr val="9b6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8" name="Oval 3"/>
          <p:cNvSpPr/>
          <p:nvPr/>
        </p:nvSpPr>
        <p:spPr>
          <a:xfrm>
            <a:off x="9875520" y="5852160"/>
            <a:ext cx="1096920" cy="1096920"/>
          </a:xfrm>
          <a:prstGeom prst="ellipse">
            <a:avLst/>
          </a:prstGeom>
          <a:solidFill>
            <a:srgbClr val="2bdc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9" name="TextBox 4"/>
          <p:cNvSpPr/>
          <p:nvPr/>
        </p:nvSpPr>
        <p:spPr>
          <a:xfrm>
            <a:off x="640080" y="384120"/>
            <a:ext cx="7772040" cy="241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100" b="1" u="none" strike="noStrike">
                <a:solidFill>
                  <a:srgbClr val="2bdceb"/>
                </a:solidFill>
                <a:effectLst/>
                <a:uFillTx/>
                <a:latin typeface="Aptos"/>
              </a:rPr>
              <a:t>01 · CONEPTO</a:t>
            </a:r>
            <a:endParaRPr lang="es-CO" sz="1100" b="0" u="none" strike="noStrike">
              <a:solidFill>
                <a:srgbClr val="ffffff"/>
              </a:solidFill>
              <a:effectLst/>
              <a:uFillTx/>
              <a:latin typeface="Arial"/>
            </a:endParaRPr>
          </a:p>
        </p:txBody>
      </p:sp>
      <p:sp>
        <p:nvSpPr>
          <p:cNvPr id="80" name="TextBox 5"/>
          <p:cNvSpPr/>
          <p:nvPr/>
        </p:nvSpPr>
        <p:spPr>
          <a:xfrm>
            <a:off x="640080" y="749880"/>
            <a:ext cx="10789560" cy="6213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3000" b="1" u="none" strike="noStrike">
                <a:solidFill>
                  <a:srgbClr val="f2f7ff"/>
                </a:solidFill>
                <a:effectLst/>
                <a:uFillTx/>
                <a:latin typeface="Aptos"/>
              </a:rPr>
              <a:t>¿Qué es la geolocalización?</a:t>
            </a:r>
            <a:endParaRPr lang="es-CO" sz="3000" b="0" u="none" strike="noStrike">
              <a:solidFill>
                <a:srgbClr val="ffffff"/>
              </a:solidFill>
              <a:effectLst/>
              <a:uFillTx/>
              <a:latin typeface="Arial"/>
            </a:endParaRPr>
          </a:p>
        </p:txBody>
      </p:sp>
      <p:sp>
        <p:nvSpPr>
          <p:cNvPr id="81" name="TextBox 6"/>
          <p:cNvSpPr/>
          <p:nvPr/>
        </p:nvSpPr>
        <p:spPr>
          <a:xfrm>
            <a:off x="676800" y="1398960"/>
            <a:ext cx="10515240" cy="4384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400" b="0" u="none" strike="noStrike">
                <a:solidFill>
                  <a:srgbClr val="a6b7d3"/>
                </a:solidFill>
                <a:effectLst/>
                <a:uFillTx/>
                <a:latin typeface="Aptos"/>
              </a:rPr>
              <a:t>Determinar la ubicación geográfica estimada de un dispositivo.</a:t>
            </a:r>
            <a:endParaRPr lang="es-CO" sz="1400" b="0" u="none" strike="noStrike">
              <a:solidFill>
                <a:srgbClr val="ffffff"/>
              </a:solidFill>
              <a:effectLst/>
              <a:uFillTx/>
              <a:latin typeface="Arial"/>
            </a:endParaRPr>
          </a:p>
        </p:txBody>
      </p:sp>
      <p:sp>
        <p:nvSpPr>
          <p:cNvPr id="82" name="TextBox 7"/>
          <p:cNvSpPr/>
          <p:nvPr/>
        </p:nvSpPr>
        <p:spPr>
          <a:xfrm>
            <a:off x="11064240" y="6446520"/>
            <a:ext cx="502560" cy="2264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lang="en-US" sz="1000" b="1" u="none" strike="noStrike">
                <a:solidFill>
                  <a:srgbClr val="a6b7d3"/>
                </a:solidFill>
                <a:effectLst/>
                <a:uFillTx/>
                <a:latin typeface="Aptos"/>
              </a:rPr>
              <a:t>02/10</a:t>
            </a:r>
            <a:endParaRPr lang="es-CO" sz="1000" b="0" u="none" strike="noStrike">
              <a:solidFill>
                <a:srgbClr val="ffffff"/>
              </a:solidFill>
              <a:effectLst/>
              <a:uFillTx/>
              <a:latin typeface="Arial"/>
            </a:endParaRPr>
          </a:p>
        </p:txBody>
      </p:sp>
      <p:sp>
        <p:nvSpPr>
          <p:cNvPr id="83" name="Rounded Rectangle 8"/>
          <p:cNvSpPr/>
          <p:nvPr/>
        </p:nvSpPr>
        <p:spPr>
          <a:xfrm>
            <a:off x="685800" y="2057400"/>
            <a:ext cx="5120280" cy="3474360"/>
          </a:xfrm>
          <a:prstGeom prst="roundRect">
            <a:avLst>
              <a:gd name="adj" fmla="val 16667"/>
            </a:avLst>
          </a:prstGeom>
          <a:solidFill>
            <a:srgbClr val="111b33"/>
          </a:solidFill>
          <a:ln w="12700">
            <a:solidFill>
              <a:srgbClr val="111b3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84" name="TextBox 9"/>
          <p:cNvSpPr/>
          <p:nvPr/>
        </p:nvSpPr>
        <p:spPr>
          <a:xfrm>
            <a:off x="960120" y="2331720"/>
            <a:ext cx="4480200" cy="383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400" b="1" u="none" strike="noStrike">
                <a:solidFill>
                  <a:srgbClr val="2bdceb"/>
                </a:solidFill>
                <a:effectLst/>
                <a:uFillTx/>
                <a:latin typeface="Aptos"/>
              </a:rPr>
              <a:t>¿PARA QUÉ SE USA?</a:t>
            </a:r>
            <a:endParaRPr lang="es-CO" sz="1400" b="0" u="none" strike="noStrike">
              <a:solidFill>
                <a:srgbClr val="ffffff"/>
              </a:solidFill>
              <a:effectLst/>
              <a:uFillTx/>
              <a:latin typeface="Arial"/>
            </a:endParaRPr>
          </a:p>
        </p:txBody>
      </p:sp>
      <p:sp>
        <p:nvSpPr>
          <p:cNvPr id="85" name="TextBox 10"/>
          <p:cNvSpPr/>
          <p:nvPr/>
        </p:nvSpPr>
        <p:spPr>
          <a:xfrm>
            <a:off x="960120" y="2926080"/>
            <a:ext cx="219240" cy="328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2000" b="1" u="none" strike="noStrike">
                <a:solidFill>
                  <a:srgbClr val="2bdceb"/>
                </a:solidFill>
                <a:effectLst/>
                <a:uFillTx/>
                <a:latin typeface="Aptos"/>
              </a:rPr>
              <a:t>•</a:t>
            </a:r>
            <a:endParaRPr lang="es-CO" sz="2000" b="0" u="none" strike="noStrike">
              <a:solidFill>
                <a:srgbClr val="ffffff"/>
              </a:solidFill>
              <a:effectLst/>
              <a:uFillTx/>
              <a:latin typeface="Arial"/>
            </a:endParaRPr>
          </a:p>
        </p:txBody>
      </p:sp>
      <p:sp>
        <p:nvSpPr>
          <p:cNvPr id="86" name="TextBox 11"/>
          <p:cNvSpPr/>
          <p:nvPr/>
        </p:nvSpPr>
        <p:spPr>
          <a:xfrm>
            <a:off x="1216080" y="2926080"/>
            <a:ext cx="422424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800" b="0" u="none" strike="noStrike">
                <a:solidFill>
                  <a:srgbClr val="f2f7ff"/>
                </a:solidFill>
                <a:effectLst/>
                <a:uFillTx/>
                <a:latin typeface="Aptos"/>
              </a:rPr>
              <a:t>Mapas y navegación</a:t>
            </a:r>
            <a:endParaRPr lang="es-CO" sz="1800" b="0" u="none" strike="noStrike">
              <a:solidFill>
                <a:srgbClr val="ffffff"/>
              </a:solidFill>
              <a:effectLst/>
              <a:uFillTx/>
              <a:latin typeface="Arial"/>
            </a:endParaRPr>
          </a:p>
        </p:txBody>
      </p:sp>
      <p:sp>
        <p:nvSpPr>
          <p:cNvPr id="87" name="TextBox 12"/>
          <p:cNvSpPr/>
          <p:nvPr/>
        </p:nvSpPr>
        <p:spPr>
          <a:xfrm>
            <a:off x="960120" y="3611880"/>
            <a:ext cx="219240" cy="328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2000" b="1" u="none" strike="noStrike">
                <a:solidFill>
                  <a:srgbClr val="2bdceb"/>
                </a:solidFill>
                <a:effectLst/>
                <a:uFillTx/>
                <a:latin typeface="Aptos"/>
              </a:rPr>
              <a:t>•</a:t>
            </a:r>
            <a:endParaRPr lang="es-CO" sz="2000" b="0" u="none" strike="noStrike">
              <a:solidFill>
                <a:srgbClr val="ffffff"/>
              </a:solidFill>
              <a:effectLst/>
              <a:uFillTx/>
              <a:latin typeface="Arial"/>
            </a:endParaRPr>
          </a:p>
        </p:txBody>
      </p:sp>
      <p:sp>
        <p:nvSpPr>
          <p:cNvPr id="88" name="TextBox 13"/>
          <p:cNvSpPr/>
          <p:nvPr/>
        </p:nvSpPr>
        <p:spPr>
          <a:xfrm>
            <a:off x="1216080" y="3611880"/>
            <a:ext cx="422424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800" b="0" u="none" strike="noStrike">
                <a:solidFill>
                  <a:srgbClr val="f2f7ff"/>
                </a:solidFill>
                <a:effectLst/>
                <a:uFillTx/>
                <a:latin typeface="Aptos"/>
              </a:rPr>
              <a:t>Transporte y domicilios</a:t>
            </a:r>
            <a:endParaRPr lang="es-CO" sz="1800" b="0" u="none" strike="noStrike">
              <a:solidFill>
                <a:srgbClr val="ffffff"/>
              </a:solidFill>
              <a:effectLst/>
              <a:uFillTx/>
              <a:latin typeface="Arial"/>
            </a:endParaRPr>
          </a:p>
        </p:txBody>
      </p:sp>
      <p:sp>
        <p:nvSpPr>
          <p:cNvPr id="89" name="TextBox 14"/>
          <p:cNvSpPr/>
          <p:nvPr/>
        </p:nvSpPr>
        <p:spPr>
          <a:xfrm>
            <a:off x="960120" y="4297680"/>
            <a:ext cx="219240" cy="328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2000" b="1" u="none" strike="noStrike">
                <a:solidFill>
                  <a:srgbClr val="2bdceb"/>
                </a:solidFill>
                <a:effectLst/>
                <a:uFillTx/>
                <a:latin typeface="Aptos"/>
              </a:rPr>
              <a:t>•</a:t>
            </a:r>
            <a:endParaRPr lang="es-CO" sz="2000" b="0" u="none" strike="noStrike">
              <a:solidFill>
                <a:srgbClr val="ffffff"/>
              </a:solidFill>
              <a:effectLst/>
              <a:uFillTx/>
              <a:latin typeface="Arial"/>
            </a:endParaRPr>
          </a:p>
        </p:txBody>
      </p:sp>
      <p:sp>
        <p:nvSpPr>
          <p:cNvPr id="90" name="TextBox 15"/>
          <p:cNvSpPr/>
          <p:nvPr/>
        </p:nvSpPr>
        <p:spPr>
          <a:xfrm>
            <a:off x="1216080" y="4297680"/>
            <a:ext cx="422424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800" b="0" u="none" strike="noStrike">
                <a:solidFill>
                  <a:srgbClr val="f2f7ff"/>
                </a:solidFill>
                <a:effectLst/>
                <a:uFillTx/>
                <a:latin typeface="Aptos"/>
              </a:rPr>
              <a:t>Servicios y lugares cercanos</a:t>
            </a:r>
            <a:endParaRPr lang="es-CO" sz="1800" b="0" u="none" strike="noStrike">
              <a:solidFill>
                <a:srgbClr val="ffffff"/>
              </a:solidFill>
              <a:effectLst/>
              <a:uFillTx/>
              <a:latin typeface="Arial"/>
            </a:endParaRPr>
          </a:p>
        </p:txBody>
      </p:sp>
      <p:sp>
        <p:nvSpPr>
          <p:cNvPr id="91" name="Rounded Rectangle 16"/>
          <p:cNvSpPr/>
          <p:nvPr/>
        </p:nvSpPr>
        <p:spPr>
          <a:xfrm>
            <a:off x="6172200" y="2057400"/>
            <a:ext cx="5257440" cy="3474360"/>
          </a:xfrm>
          <a:prstGeom prst="roundRect">
            <a:avLst>
              <a:gd name="adj" fmla="val 16667"/>
            </a:avLst>
          </a:prstGeom>
          <a:solidFill>
            <a:srgbClr val="162442"/>
          </a:solidFill>
          <a:ln w="12700">
            <a:solidFill>
              <a:srgbClr val="498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2" name="TextBox 17"/>
          <p:cNvSpPr/>
          <p:nvPr/>
        </p:nvSpPr>
        <p:spPr>
          <a:xfrm>
            <a:off x="6492240" y="2359080"/>
            <a:ext cx="4480200" cy="3470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400" b="1" u="none" strike="noStrike">
                <a:solidFill>
                  <a:srgbClr val="4984ff"/>
                </a:solidFill>
                <a:effectLst/>
                <a:uFillTx/>
                <a:latin typeface="Aptos"/>
              </a:rPr>
              <a:t>IDEA CLAVE</a:t>
            </a:r>
            <a:endParaRPr lang="es-CO" sz="1400" b="0" u="none" strike="noStrike">
              <a:solidFill>
                <a:srgbClr val="ffffff"/>
              </a:solidFill>
              <a:effectLst/>
              <a:uFillTx/>
              <a:latin typeface="Arial"/>
            </a:endParaRPr>
          </a:p>
        </p:txBody>
      </p:sp>
      <p:sp>
        <p:nvSpPr>
          <p:cNvPr id="93" name="TextBox 18"/>
          <p:cNvSpPr/>
          <p:nvPr/>
        </p:nvSpPr>
        <p:spPr>
          <a:xfrm>
            <a:off x="6492240" y="2880360"/>
            <a:ext cx="4388760" cy="13712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2300" b="1" u="none" strike="noStrike">
                <a:solidFill>
                  <a:srgbClr val="f2f7ff"/>
                </a:solidFill>
                <a:effectLst/>
                <a:uFillTx/>
                <a:latin typeface="Aptos"/>
              </a:rPr>
              <a:t>JavaScript solicita la ubicación al navegador; no calcula por sí solo la posición.</a:t>
            </a:r>
            <a:endParaRPr lang="es-CO" sz="2300" b="0" u="none" strike="noStrike">
              <a:solidFill>
                <a:srgbClr val="ffffff"/>
              </a:solidFill>
              <a:effectLst/>
              <a:uFillTx/>
              <a:latin typeface="Arial"/>
            </a:endParaRPr>
          </a:p>
        </p:txBody>
      </p:sp>
      <p:sp>
        <p:nvSpPr>
          <p:cNvPr id="94" name="TextBox 19"/>
          <p:cNvSpPr/>
          <p:nvPr/>
        </p:nvSpPr>
        <p:spPr>
          <a:xfrm>
            <a:off x="6492240" y="4709160"/>
            <a:ext cx="429732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400" b="0" u="none" strike="noStrike">
                <a:solidFill>
                  <a:srgbClr val="a6b7d3"/>
                </a:solidFill>
                <a:effectLst/>
                <a:uFillTx/>
                <a:latin typeface="Aptos"/>
              </a:rPr>
              <a:t>La precisión puede variar según el dispositivo y las señales disponibles.</a:t>
            </a:r>
            <a:endParaRPr lang="es-CO"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d1d"/>
        </a:solidFill>
      </p:bgPr>
    </p:bg>
    <p:spTree>
      <p:nvGrpSpPr>
        <p:cNvPr id="1" name=""/>
        <p:cNvGrpSpPr/>
        <p:nvPr/>
      </p:nvGrpSpPr>
      <p:grpSpPr>
        <a:xfrm>
          <a:off x="0" y="0"/>
          <a:ext cx="0" cy="0"/>
          <a:chOff x="0" y="0"/>
          <a:chExt cx="0" cy="0"/>
        </a:xfrm>
      </p:grpSpPr>
      <p:sp>
        <p:nvSpPr>
          <p:cNvPr id="95" name="Oval 1"/>
          <p:cNvSpPr/>
          <p:nvPr/>
        </p:nvSpPr>
        <p:spPr>
          <a:xfrm>
            <a:off x="10607040" y="-548640"/>
            <a:ext cx="2377080" cy="2377080"/>
          </a:xfrm>
          <a:prstGeom prst="ellipse">
            <a:avLst/>
          </a:prstGeom>
          <a:solidFill>
            <a:srgbClr val="498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6" name="Oval 2"/>
          <p:cNvSpPr/>
          <p:nvPr/>
        </p:nvSpPr>
        <p:spPr>
          <a:xfrm>
            <a:off x="-822960" y="5394960"/>
            <a:ext cx="1828440" cy="1828440"/>
          </a:xfrm>
          <a:prstGeom prst="ellipse">
            <a:avLst/>
          </a:prstGeom>
          <a:solidFill>
            <a:srgbClr val="9b6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7" name="Oval 3"/>
          <p:cNvSpPr/>
          <p:nvPr/>
        </p:nvSpPr>
        <p:spPr>
          <a:xfrm>
            <a:off x="9875520" y="5852160"/>
            <a:ext cx="1096920" cy="1096920"/>
          </a:xfrm>
          <a:prstGeom prst="ellipse">
            <a:avLst/>
          </a:prstGeom>
          <a:solidFill>
            <a:srgbClr val="2bdc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8" name="TextBox 4"/>
          <p:cNvSpPr/>
          <p:nvPr/>
        </p:nvSpPr>
        <p:spPr>
          <a:xfrm>
            <a:off x="640080" y="384120"/>
            <a:ext cx="7772040" cy="241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100" b="1" u="none" strike="noStrike">
                <a:solidFill>
                  <a:srgbClr val="2bdceb"/>
                </a:solidFill>
                <a:effectLst/>
                <a:uFillTx/>
                <a:latin typeface="Aptos"/>
              </a:rPr>
              <a:t>02 · FUNCIONAMIENTO</a:t>
            </a:r>
            <a:endParaRPr lang="es-CO" sz="1100" b="0" u="none" strike="noStrike">
              <a:solidFill>
                <a:srgbClr val="ffffff"/>
              </a:solidFill>
              <a:effectLst/>
              <a:uFillTx/>
              <a:latin typeface="Arial"/>
            </a:endParaRPr>
          </a:p>
        </p:txBody>
      </p:sp>
      <p:sp>
        <p:nvSpPr>
          <p:cNvPr id="99" name="TextBox 5"/>
          <p:cNvSpPr/>
          <p:nvPr/>
        </p:nvSpPr>
        <p:spPr>
          <a:xfrm>
            <a:off x="640080" y="749880"/>
            <a:ext cx="10789560" cy="6213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3000" b="1" u="none" strike="noStrike">
                <a:solidFill>
                  <a:srgbClr val="f2f7ff"/>
                </a:solidFill>
                <a:effectLst/>
                <a:uFillTx/>
                <a:latin typeface="Aptos"/>
              </a:rPr>
              <a:t>¿Cómo llega la ubicación a la página?</a:t>
            </a:r>
            <a:endParaRPr lang="es-CO" sz="3000" b="0" u="none" strike="noStrike">
              <a:solidFill>
                <a:srgbClr val="ffffff"/>
              </a:solidFill>
              <a:effectLst/>
              <a:uFillTx/>
              <a:latin typeface="Arial"/>
            </a:endParaRPr>
          </a:p>
        </p:txBody>
      </p:sp>
      <p:sp>
        <p:nvSpPr>
          <p:cNvPr id="100" name="TextBox 6"/>
          <p:cNvSpPr/>
          <p:nvPr/>
        </p:nvSpPr>
        <p:spPr>
          <a:xfrm>
            <a:off x="676800" y="1398960"/>
            <a:ext cx="10515240" cy="4384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400" b="0" u="none" strike="noStrike">
                <a:solidFill>
                  <a:srgbClr val="a6b7d3"/>
                </a:solidFill>
                <a:effectLst/>
                <a:uFillTx/>
                <a:latin typeface="Aptos"/>
              </a:rPr>
              <a:t>La página solicita datos; el navegador gestiona el permiso y el posicionamiento.</a:t>
            </a:r>
            <a:endParaRPr lang="es-CO" sz="1400" b="0" u="none" strike="noStrike">
              <a:solidFill>
                <a:srgbClr val="ffffff"/>
              </a:solidFill>
              <a:effectLst/>
              <a:uFillTx/>
              <a:latin typeface="Arial"/>
            </a:endParaRPr>
          </a:p>
        </p:txBody>
      </p:sp>
      <p:sp>
        <p:nvSpPr>
          <p:cNvPr id="101" name="TextBox 7"/>
          <p:cNvSpPr/>
          <p:nvPr/>
        </p:nvSpPr>
        <p:spPr>
          <a:xfrm>
            <a:off x="11064240" y="6446520"/>
            <a:ext cx="502560" cy="2282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lang="en-US" sz="1000" b="1" u="none" strike="noStrike">
                <a:solidFill>
                  <a:srgbClr val="a6b7d3"/>
                </a:solidFill>
                <a:effectLst/>
                <a:uFillTx/>
                <a:latin typeface="Aptos"/>
              </a:rPr>
              <a:t>03/10</a:t>
            </a:r>
            <a:endParaRPr lang="es-CO" sz="1000" b="0" u="none" strike="noStrike">
              <a:solidFill>
                <a:srgbClr val="ffffff"/>
              </a:solidFill>
              <a:effectLst/>
              <a:uFillTx/>
              <a:latin typeface="Arial"/>
            </a:endParaRPr>
          </a:p>
        </p:txBody>
      </p:sp>
      <p:sp>
        <p:nvSpPr>
          <p:cNvPr id="102" name="Rounded Rectangle 8"/>
          <p:cNvSpPr/>
          <p:nvPr/>
        </p:nvSpPr>
        <p:spPr>
          <a:xfrm>
            <a:off x="731520" y="2423160"/>
            <a:ext cx="2422800" cy="1965600"/>
          </a:xfrm>
          <a:prstGeom prst="roundRect">
            <a:avLst>
              <a:gd name="adj" fmla="val 16667"/>
            </a:avLst>
          </a:prstGeom>
          <a:solidFill>
            <a:srgbClr val="162442"/>
          </a:solidFill>
          <a:ln w="12700">
            <a:solidFill>
              <a:srgbClr val="2bdc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03" name="TextBox 9"/>
          <p:cNvSpPr/>
          <p:nvPr/>
        </p:nvSpPr>
        <p:spPr>
          <a:xfrm>
            <a:off x="896040" y="2633400"/>
            <a:ext cx="731160" cy="4568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2500" b="1" u="none" strike="noStrike">
                <a:solidFill>
                  <a:srgbClr val="2bdceb"/>
                </a:solidFill>
                <a:effectLst/>
                <a:uFillTx/>
                <a:latin typeface="Aptos"/>
              </a:rPr>
              <a:t>01</a:t>
            </a:r>
            <a:endParaRPr lang="es-CO" sz="2500" b="0" u="none" strike="noStrike">
              <a:solidFill>
                <a:srgbClr val="ffffff"/>
              </a:solidFill>
              <a:effectLst/>
              <a:uFillTx/>
              <a:latin typeface="Arial"/>
            </a:endParaRPr>
          </a:p>
        </p:txBody>
      </p:sp>
      <p:sp>
        <p:nvSpPr>
          <p:cNvPr id="104" name="TextBox 10"/>
          <p:cNvSpPr/>
          <p:nvPr/>
        </p:nvSpPr>
        <p:spPr>
          <a:xfrm>
            <a:off x="896040" y="3246120"/>
            <a:ext cx="2057040" cy="8409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600" b="1" u="none" strike="noStrike">
                <a:solidFill>
                  <a:srgbClr val="f2f7ff"/>
                </a:solidFill>
                <a:effectLst/>
                <a:uFillTx/>
                <a:latin typeface="Aptos"/>
              </a:rPr>
              <a:t>La persona pulsa un botón</a:t>
            </a:r>
            <a:endParaRPr lang="es-CO" sz="1600" b="0" u="none" strike="noStrike">
              <a:solidFill>
                <a:srgbClr val="ffffff"/>
              </a:solidFill>
              <a:effectLst/>
              <a:uFillTx/>
              <a:latin typeface="Arial"/>
            </a:endParaRPr>
          </a:p>
        </p:txBody>
      </p:sp>
      <p:sp>
        <p:nvSpPr>
          <p:cNvPr id="105" name="TextBox 11"/>
          <p:cNvSpPr/>
          <p:nvPr/>
        </p:nvSpPr>
        <p:spPr>
          <a:xfrm>
            <a:off x="3182040" y="3090600"/>
            <a:ext cx="383760" cy="411120"/>
          </a:xfrm>
          <a:prstGeom prst="rect">
            <a:avLst/>
          </a:prstGeom>
          <a:noFill/>
          <a:ln w="0">
            <a:noFill/>
          </a:ln>
        </p:spPr>
        <p:style>
          <a:lnRef idx="0"/>
          <a:fillRef idx="0"/>
          <a:effectRef idx="0"/>
          <a:fontRef idx="minor"/>
        </p:style>
        <p:txBody>
          <a:bodyPr lIns="36720" rIns="36720" tIns="36720" bIns="36720" anchor="t">
            <a:spAutoFit/>
          </a:bodyPr>
          <a:p>
            <a:pPr algn="ctr" defTabSz="457200">
              <a:lnSpc>
                <a:spcPct val="100000"/>
              </a:lnSpc>
            </a:pPr>
            <a:r>
              <a:rPr lang="en-US" sz="2200" b="1" u="none" strike="noStrike">
                <a:solidFill>
                  <a:srgbClr val="2bdceb"/>
                </a:solidFill>
                <a:effectLst/>
                <a:uFillTx/>
                <a:latin typeface="Aptos"/>
              </a:rPr>
              <a:t>→</a:t>
            </a:r>
            <a:endParaRPr lang="es-CO" sz="2200" b="0" u="none" strike="noStrike">
              <a:solidFill>
                <a:srgbClr val="ffffff"/>
              </a:solidFill>
              <a:effectLst/>
              <a:uFillTx/>
              <a:latin typeface="Arial"/>
            </a:endParaRPr>
          </a:p>
        </p:txBody>
      </p:sp>
      <p:sp>
        <p:nvSpPr>
          <p:cNvPr id="106" name="Rounded Rectangle 12"/>
          <p:cNvSpPr/>
          <p:nvPr/>
        </p:nvSpPr>
        <p:spPr>
          <a:xfrm>
            <a:off x="3611880" y="2423160"/>
            <a:ext cx="2422800" cy="1965600"/>
          </a:xfrm>
          <a:prstGeom prst="roundRect">
            <a:avLst>
              <a:gd name="adj" fmla="val 16667"/>
            </a:avLst>
          </a:prstGeom>
          <a:solidFill>
            <a:srgbClr val="162442"/>
          </a:solidFill>
          <a:ln w="12700">
            <a:solidFill>
              <a:srgbClr val="498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07" name="TextBox 13"/>
          <p:cNvSpPr/>
          <p:nvPr/>
        </p:nvSpPr>
        <p:spPr>
          <a:xfrm>
            <a:off x="3776400" y="2633400"/>
            <a:ext cx="731160" cy="4568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2500" b="1" u="none" strike="noStrike">
                <a:solidFill>
                  <a:srgbClr val="4984ff"/>
                </a:solidFill>
                <a:effectLst/>
                <a:uFillTx/>
                <a:latin typeface="Aptos"/>
              </a:rPr>
              <a:t>02</a:t>
            </a:r>
            <a:endParaRPr lang="es-CO" sz="2500" b="0" u="none" strike="noStrike">
              <a:solidFill>
                <a:srgbClr val="ffffff"/>
              </a:solidFill>
              <a:effectLst/>
              <a:uFillTx/>
              <a:latin typeface="Arial"/>
            </a:endParaRPr>
          </a:p>
        </p:txBody>
      </p:sp>
      <p:sp>
        <p:nvSpPr>
          <p:cNvPr id="108" name="TextBox 14"/>
          <p:cNvSpPr/>
          <p:nvPr/>
        </p:nvSpPr>
        <p:spPr>
          <a:xfrm>
            <a:off x="3776400" y="3246120"/>
            <a:ext cx="2057040" cy="8409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600" b="1" u="none" strike="noStrike">
                <a:solidFill>
                  <a:srgbClr val="f2f7ff"/>
                </a:solidFill>
                <a:effectLst/>
                <a:uFillTx/>
                <a:latin typeface="Aptos"/>
              </a:rPr>
              <a:t>El navegador solicita permiso</a:t>
            </a:r>
            <a:endParaRPr lang="es-CO" sz="1600" b="0" u="none" strike="noStrike">
              <a:solidFill>
                <a:srgbClr val="ffffff"/>
              </a:solidFill>
              <a:effectLst/>
              <a:uFillTx/>
              <a:latin typeface="Arial"/>
            </a:endParaRPr>
          </a:p>
        </p:txBody>
      </p:sp>
      <p:sp>
        <p:nvSpPr>
          <p:cNvPr id="109" name="TextBox 15"/>
          <p:cNvSpPr/>
          <p:nvPr/>
        </p:nvSpPr>
        <p:spPr>
          <a:xfrm>
            <a:off x="6062400" y="3090600"/>
            <a:ext cx="383760" cy="411120"/>
          </a:xfrm>
          <a:prstGeom prst="rect">
            <a:avLst/>
          </a:prstGeom>
          <a:noFill/>
          <a:ln w="0">
            <a:noFill/>
          </a:ln>
        </p:spPr>
        <p:style>
          <a:lnRef idx="0"/>
          <a:fillRef idx="0"/>
          <a:effectRef idx="0"/>
          <a:fontRef idx="minor"/>
        </p:style>
        <p:txBody>
          <a:bodyPr lIns="36720" rIns="36720" tIns="36720" bIns="36720" anchor="t">
            <a:spAutoFit/>
          </a:bodyPr>
          <a:p>
            <a:pPr algn="ctr" defTabSz="457200">
              <a:lnSpc>
                <a:spcPct val="100000"/>
              </a:lnSpc>
            </a:pPr>
            <a:r>
              <a:rPr lang="en-US" sz="2200" b="1" u="none" strike="noStrike">
                <a:solidFill>
                  <a:srgbClr val="2bdceb"/>
                </a:solidFill>
                <a:effectLst/>
                <a:uFillTx/>
                <a:latin typeface="Aptos"/>
              </a:rPr>
              <a:t>→</a:t>
            </a:r>
            <a:endParaRPr lang="es-CO" sz="2200" b="0" u="none" strike="noStrike">
              <a:solidFill>
                <a:srgbClr val="ffffff"/>
              </a:solidFill>
              <a:effectLst/>
              <a:uFillTx/>
              <a:latin typeface="Arial"/>
            </a:endParaRPr>
          </a:p>
        </p:txBody>
      </p:sp>
      <p:sp>
        <p:nvSpPr>
          <p:cNvPr id="110" name="Rounded Rectangle 16"/>
          <p:cNvSpPr/>
          <p:nvPr/>
        </p:nvSpPr>
        <p:spPr>
          <a:xfrm>
            <a:off x="6492240" y="2423160"/>
            <a:ext cx="2422800" cy="1965600"/>
          </a:xfrm>
          <a:prstGeom prst="roundRect">
            <a:avLst>
              <a:gd name="adj" fmla="val 16667"/>
            </a:avLst>
          </a:prstGeom>
          <a:solidFill>
            <a:srgbClr val="162442"/>
          </a:solidFill>
          <a:ln w="12700">
            <a:solidFill>
              <a:srgbClr val="9b6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11" name="TextBox 17"/>
          <p:cNvSpPr/>
          <p:nvPr/>
        </p:nvSpPr>
        <p:spPr>
          <a:xfrm>
            <a:off x="6656760" y="2633400"/>
            <a:ext cx="731160" cy="4568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2500" b="1" u="none" strike="noStrike">
                <a:solidFill>
                  <a:srgbClr val="9b64ff"/>
                </a:solidFill>
                <a:effectLst/>
                <a:uFillTx/>
                <a:latin typeface="Aptos"/>
              </a:rPr>
              <a:t>03</a:t>
            </a:r>
            <a:endParaRPr lang="es-CO" sz="2500" b="0" u="none" strike="noStrike">
              <a:solidFill>
                <a:srgbClr val="ffffff"/>
              </a:solidFill>
              <a:effectLst/>
              <a:uFillTx/>
              <a:latin typeface="Arial"/>
            </a:endParaRPr>
          </a:p>
        </p:txBody>
      </p:sp>
      <p:sp>
        <p:nvSpPr>
          <p:cNvPr id="112" name="TextBox 18"/>
          <p:cNvSpPr/>
          <p:nvPr/>
        </p:nvSpPr>
        <p:spPr>
          <a:xfrm>
            <a:off x="6656760" y="3246120"/>
            <a:ext cx="2057040" cy="8409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600" b="1" u="none" strike="noStrike">
                <a:solidFill>
                  <a:srgbClr val="f2f7ff"/>
                </a:solidFill>
                <a:effectLst/>
                <a:uFillTx/>
                <a:latin typeface="Aptos"/>
              </a:rPr>
              <a:t>El dispositivo estima la posición</a:t>
            </a:r>
            <a:endParaRPr lang="es-CO" sz="1600" b="0" u="none" strike="noStrike">
              <a:solidFill>
                <a:srgbClr val="ffffff"/>
              </a:solidFill>
              <a:effectLst/>
              <a:uFillTx/>
              <a:latin typeface="Arial"/>
            </a:endParaRPr>
          </a:p>
        </p:txBody>
      </p:sp>
      <p:sp>
        <p:nvSpPr>
          <p:cNvPr id="113" name="TextBox 19"/>
          <p:cNvSpPr/>
          <p:nvPr/>
        </p:nvSpPr>
        <p:spPr>
          <a:xfrm>
            <a:off x="8942760" y="3090600"/>
            <a:ext cx="383760" cy="411120"/>
          </a:xfrm>
          <a:prstGeom prst="rect">
            <a:avLst/>
          </a:prstGeom>
          <a:noFill/>
          <a:ln w="0">
            <a:noFill/>
          </a:ln>
        </p:spPr>
        <p:style>
          <a:lnRef idx="0"/>
          <a:fillRef idx="0"/>
          <a:effectRef idx="0"/>
          <a:fontRef idx="minor"/>
        </p:style>
        <p:txBody>
          <a:bodyPr lIns="36720" rIns="36720" tIns="36720" bIns="36720" anchor="t">
            <a:spAutoFit/>
          </a:bodyPr>
          <a:p>
            <a:pPr algn="ctr" defTabSz="457200">
              <a:lnSpc>
                <a:spcPct val="100000"/>
              </a:lnSpc>
            </a:pPr>
            <a:r>
              <a:rPr lang="en-US" sz="2200" b="1" u="none" strike="noStrike">
                <a:solidFill>
                  <a:srgbClr val="2bdceb"/>
                </a:solidFill>
                <a:effectLst/>
                <a:uFillTx/>
                <a:latin typeface="Aptos"/>
              </a:rPr>
              <a:t>→</a:t>
            </a:r>
            <a:endParaRPr lang="es-CO" sz="2200" b="0" u="none" strike="noStrike">
              <a:solidFill>
                <a:srgbClr val="ffffff"/>
              </a:solidFill>
              <a:effectLst/>
              <a:uFillTx/>
              <a:latin typeface="Arial"/>
            </a:endParaRPr>
          </a:p>
        </p:txBody>
      </p:sp>
      <p:sp>
        <p:nvSpPr>
          <p:cNvPr id="114" name="Rounded Rectangle 20"/>
          <p:cNvSpPr/>
          <p:nvPr/>
        </p:nvSpPr>
        <p:spPr>
          <a:xfrm>
            <a:off x="9372600" y="2423160"/>
            <a:ext cx="2422800" cy="1965600"/>
          </a:xfrm>
          <a:prstGeom prst="roundRect">
            <a:avLst>
              <a:gd name="adj" fmla="val 16667"/>
            </a:avLst>
          </a:prstGeom>
          <a:solidFill>
            <a:srgbClr val="162442"/>
          </a:solidFill>
          <a:ln w="12700">
            <a:solidFill>
              <a:srgbClr val="40de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15" name="TextBox 21"/>
          <p:cNvSpPr/>
          <p:nvPr/>
        </p:nvSpPr>
        <p:spPr>
          <a:xfrm>
            <a:off x="9537120" y="2633400"/>
            <a:ext cx="731160" cy="4568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2500" b="1" u="none" strike="noStrike">
                <a:solidFill>
                  <a:srgbClr val="40dea0"/>
                </a:solidFill>
                <a:effectLst/>
                <a:uFillTx/>
                <a:latin typeface="Aptos"/>
              </a:rPr>
              <a:t>04</a:t>
            </a:r>
            <a:endParaRPr lang="es-CO" sz="2500" b="0" u="none" strike="noStrike">
              <a:solidFill>
                <a:srgbClr val="ffffff"/>
              </a:solidFill>
              <a:effectLst/>
              <a:uFillTx/>
              <a:latin typeface="Arial"/>
            </a:endParaRPr>
          </a:p>
        </p:txBody>
      </p:sp>
      <p:sp>
        <p:nvSpPr>
          <p:cNvPr id="116" name="TextBox 22"/>
          <p:cNvSpPr/>
          <p:nvPr/>
        </p:nvSpPr>
        <p:spPr>
          <a:xfrm>
            <a:off x="9537120" y="3246120"/>
            <a:ext cx="2057040" cy="8409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600" b="1" u="none" strike="noStrike">
                <a:solidFill>
                  <a:srgbClr val="f2f7ff"/>
                </a:solidFill>
                <a:effectLst/>
                <a:uFillTx/>
                <a:latin typeface="Aptos"/>
              </a:rPr>
              <a:t>JavaScript recibe las coordenadas</a:t>
            </a:r>
            <a:endParaRPr lang="es-CO" sz="1600" b="0" u="none" strike="noStrike">
              <a:solidFill>
                <a:srgbClr val="ffffff"/>
              </a:solidFill>
              <a:effectLst/>
              <a:uFillTx/>
              <a:latin typeface="Arial"/>
            </a:endParaRPr>
          </a:p>
        </p:txBody>
      </p:sp>
      <p:sp>
        <p:nvSpPr>
          <p:cNvPr id="117" name="Rounded Rectangle 23"/>
          <p:cNvSpPr/>
          <p:nvPr/>
        </p:nvSpPr>
        <p:spPr>
          <a:xfrm>
            <a:off x="914400" y="4892040"/>
            <a:ext cx="10149480" cy="658080"/>
          </a:xfrm>
          <a:prstGeom prst="roundRect">
            <a:avLst>
              <a:gd name="adj" fmla="val 16667"/>
            </a:avLst>
          </a:prstGeom>
          <a:solidFill>
            <a:srgbClr val="1e1935"/>
          </a:solidFill>
          <a:ln w="12700">
            <a:solidFill>
              <a:srgbClr val="9b6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18" name="TextBox 24"/>
          <p:cNvSpPr/>
          <p:nvPr/>
        </p:nvSpPr>
        <p:spPr>
          <a:xfrm>
            <a:off x="1170360" y="5056560"/>
            <a:ext cx="9692280" cy="292320"/>
          </a:xfrm>
          <a:prstGeom prst="rect">
            <a:avLst/>
          </a:prstGeom>
          <a:noFill/>
          <a:ln w="0">
            <a:noFill/>
          </a:ln>
        </p:spPr>
        <p:style>
          <a:lnRef idx="0"/>
          <a:fillRef idx="0"/>
          <a:effectRef idx="0"/>
          <a:fontRef idx="minor"/>
        </p:style>
        <p:txBody>
          <a:bodyPr lIns="36720" rIns="36720" tIns="36720" bIns="36720" anchor="t">
            <a:spAutoFit/>
          </a:bodyPr>
          <a:p>
            <a:pPr algn="ctr" defTabSz="457200">
              <a:lnSpc>
                <a:spcPct val="100000"/>
              </a:lnSpc>
            </a:pPr>
            <a:r>
              <a:rPr lang="en-US" sz="1500" b="1" u="none" strike="noStrike">
                <a:solidFill>
                  <a:srgbClr val="f2f7ff"/>
                </a:solidFill>
                <a:effectLst/>
                <a:uFillTx/>
                <a:latin typeface="Aptos"/>
              </a:rPr>
              <a:t>Fuentes posibles: GPS, Wi-Fi, redes móviles u otros métodos disponibles</a:t>
            </a:r>
            <a:endParaRPr lang="es-CO"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d1d"/>
        </a:solidFill>
      </p:bgPr>
    </p:bg>
    <p:spTree>
      <p:nvGrpSpPr>
        <p:cNvPr id="1" name=""/>
        <p:cNvGrpSpPr/>
        <p:nvPr/>
      </p:nvGrpSpPr>
      <p:grpSpPr>
        <a:xfrm>
          <a:off x="0" y="0"/>
          <a:ext cx="0" cy="0"/>
          <a:chOff x="0" y="0"/>
          <a:chExt cx="0" cy="0"/>
        </a:xfrm>
      </p:grpSpPr>
      <p:sp>
        <p:nvSpPr>
          <p:cNvPr id="119" name="Oval 1"/>
          <p:cNvSpPr/>
          <p:nvPr/>
        </p:nvSpPr>
        <p:spPr>
          <a:xfrm>
            <a:off x="10607040" y="-548640"/>
            <a:ext cx="2377080" cy="2377080"/>
          </a:xfrm>
          <a:prstGeom prst="ellipse">
            <a:avLst/>
          </a:prstGeom>
          <a:solidFill>
            <a:srgbClr val="498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20" name="Oval 2"/>
          <p:cNvSpPr/>
          <p:nvPr/>
        </p:nvSpPr>
        <p:spPr>
          <a:xfrm>
            <a:off x="-822960" y="5394960"/>
            <a:ext cx="1828440" cy="1828440"/>
          </a:xfrm>
          <a:prstGeom prst="ellipse">
            <a:avLst/>
          </a:prstGeom>
          <a:solidFill>
            <a:srgbClr val="9b6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21" name="Oval 3"/>
          <p:cNvSpPr/>
          <p:nvPr/>
        </p:nvSpPr>
        <p:spPr>
          <a:xfrm>
            <a:off x="9875520" y="5852160"/>
            <a:ext cx="1096920" cy="1096920"/>
          </a:xfrm>
          <a:prstGeom prst="ellipse">
            <a:avLst/>
          </a:prstGeom>
          <a:solidFill>
            <a:srgbClr val="2bdc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22" name="TextBox 4"/>
          <p:cNvSpPr/>
          <p:nvPr/>
        </p:nvSpPr>
        <p:spPr>
          <a:xfrm>
            <a:off x="640080" y="384120"/>
            <a:ext cx="7772040" cy="2923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100" b="1" u="none" strike="noStrike">
                <a:solidFill>
                  <a:srgbClr val="2bdceb"/>
                </a:solidFill>
                <a:effectLst/>
                <a:uFillTx/>
                <a:latin typeface="Aptos"/>
              </a:rPr>
              <a:t>03 · API DEL NAVEGADOR</a:t>
            </a:r>
            <a:endParaRPr lang="es-CO" sz="1100" b="0" u="none" strike="noStrike">
              <a:solidFill>
                <a:srgbClr val="ffffff"/>
              </a:solidFill>
              <a:effectLst/>
              <a:uFillTx/>
              <a:latin typeface="Arial"/>
            </a:endParaRPr>
          </a:p>
        </p:txBody>
      </p:sp>
      <p:sp>
        <p:nvSpPr>
          <p:cNvPr id="123" name="TextBox 5"/>
          <p:cNvSpPr/>
          <p:nvPr/>
        </p:nvSpPr>
        <p:spPr>
          <a:xfrm>
            <a:off x="640080" y="749880"/>
            <a:ext cx="10789560" cy="6213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3000" b="1" u="none" strike="noStrike">
                <a:solidFill>
                  <a:srgbClr val="f2f7ff"/>
                </a:solidFill>
                <a:effectLst/>
                <a:uFillTx/>
                <a:latin typeface="Aptos"/>
              </a:rPr>
              <a:t>Las dos funciones principales</a:t>
            </a:r>
            <a:endParaRPr lang="es-CO" sz="3000" b="0" u="none" strike="noStrike">
              <a:solidFill>
                <a:srgbClr val="ffffff"/>
              </a:solidFill>
              <a:effectLst/>
              <a:uFillTx/>
              <a:latin typeface="Arial"/>
            </a:endParaRPr>
          </a:p>
        </p:txBody>
      </p:sp>
      <p:sp>
        <p:nvSpPr>
          <p:cNvPr id="124" name="TextBox 6"/>
          <p:cNvSpPr/>
          <p:nvPr/>
        </p:nvSpPr>
        <p:spPr>
          <a:xfrm>
            <a:off x="676800" y="1398960"/>
            <a:ext cx="10515240" cy="4384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400" b="0" u="none" strike="noStrike">
                <a:solidFill>
                  <a:srgbClr val="a6b7d3"/>
                </a:solidFill>
                <a:effectLst/>
                <a:uFillTx/>
                <a:latin typeface="Aptos"/>
              </a:rPr>
              <a:t>Se accede a la API mediante navigator.geolocation.</a:t>
            </a:r>
            <a:endParaRPr lang="es-CO" sz="1400" b="0" u="none" strike="noStrike">
              <a:solidFill>
                <a:srgbClr val="ffffff"/>
              </a:solidFill>
              <a:effectLst/>
              <a:uFillTx/>
              <a:latin typeface="Arial"/>
            </a:endParaRPr>
          </a:p>
        </p:txBody>
      </p:sp>
      <p:sp>
        <p:nvSpPr>
          <p:cNvPr id="125" name="TextBox 7"/>
          <p:cNvSpPr/>
          <p:nvPr/>
        </p:nvSpPr>
        <p:spPr>
          <a:xfrm>
            <a:off x="11064240" y="6446520"/>
            <a:ext cx="502560" cy="2282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lang="en-US" sz="1000" b="1" u="none" strike="noStrike">
                <a:solidFill>
                  <a:srgbClr val="a6b7d3"/>
                </a:solidFill>
                <a:effectLst/>
                <a:uFillTx/>
                <a:latin typeface="Aptos"/>
              </a:rPr>
              <a:t>04/10</a:t>
            </a:r>
            <a:endParaRPr lang="es-CO" sz="1000" b="0" u="none" strike="noStrike">
              <a:solidFill>
                <a:srgbClr val="ffffff"/>
              </a:solidFill>
              <a:effectLst/>
              <a:uFillTx/>
              <a:latin typeface="Arial"/>
            </a:endParaRPr>
          </a:p>
        </p:txBody>
      </p:sp>
      <p:sp>
        <p:nvSpPr>
          <p:cNvPr id="126" name="Rounded Rectangle 8"/>
          <p:cNvSpPr/>
          <p:nvPr/>
        </p:nvSpPr>
        <p:spPr>
          <a:xfrm>
            <a:off x="731520" y="2148840"/>
            <a:ext cx="5211720" cy="2057040"/>
          </a:xfrm>
          <a:prstGeom prst="roundRect">
            <a:avLst>
              <a:gd name="adj" fmla="val 16667"/>
            </a:avLst>
          </a:prstGeom>
          <a:solidFill>
            <a:srgbClr val="162442"/>
          </a:solidFill>
          <a:ln w="12700">
            <a:solidFill>
              <a:srgbClr val="2bdc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27" name="TextBox 9"/>
          <p:cNvSpPr/>
          <p:nvPr/>
        </p:nvSpPr>
        <p:spPr>
          <a:xfrm>
            <a:off x="1024200" y="2450520"/>
            <a:ext cx="4571640" cy="383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2200" b="1" u="none" strike="noStrike">
                <a:solidFill>
                  <a:srgbClr val="2bdceb"/>
                </a:solidFill>
                <a:effectLst/>
                <a:uFillTx/>
                <a:latin typeface="Cascadia Code"/>
              </a:rPr>
              <a:t>getCurrentPosition()</a:t>
            </a:r>
            <a:endParaRPr lang="es-CO" sz="2200" b="0" u="none" strike="noStrike">
              <a:solidFill>
                <a:srgbClr val="ffffff"/>
              </a:solidFill>
              <a:effectLst/>
              <a:uFillTx/>
              <a:latin typeface="Arial"/>
            </a:endParaRPr>
          </a:p>
        </p:txBody>
      </p:sp>
      <p:sp>
        <p:nvSpPr>
          <p:cNvPr id="128" name="TextBox 10"/>
          <p:cNvSpPr/>
          <p:nvPr/>
        </p:nvSpPr>
        <p:spPr>
          <a:xfrm>
            <a:off x="1024200" y="3063240"/>
            <a:ext cx="4525920" cy="7768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700" b="0" u="none" strike="noStrike">
                <a:solidFill>
                  <a:srgbClr val="f2f7ff"/>
                </a:solidFill>
                <a:effectLst/>
                <a:uFillTx/>
                <a:latin typeface="Aptos"/>
              </a:rPr>
              <a:t>Solicita una posición actual una sola vez por solicitud.</a:t>
            </a:r>
            <a:endParaRPr lang="es-CO" sz="1700" b="0" u="none" strike="noStrike">
              <a:solidFill>
                <a:srgbClr val="ffffff"/>
              </a:solidFill>
              <a:effectLst/>
              <a:uFillTx/>
              <a:latin typeface="Arial"/>
            </a:endParaRPr>
          </a:p>
        </p:txBody>
      </p:sp>
      <p:sp>
        <p:nvSpPr>
          <p:cNvPr id="129" name="Rounded Rectangle 11"/>
          <p:cNvSpPr/>
          <p:nvPr/>
        </p:nvSpPr>
        <p:spPr>
          <a:xfrm>
            <a:off x="6263640" y="2148840"/>
            <a:ext cx="5211720" cy="2057040"/>
          </a:xfrm>
          <a:prstGeom prst="roundRect">
            <a:avLst>
              <a:gd name="adj" fmla="val 16667"/>
            </a:avLst>
          </a:prstGeom>
          <a:solidFill>
            <a:srgbClr val="162442"/>
          </a:solidFill>
          <a:ln w="12700">
            <a:solidFill>
              <a:srgbClr val="9b6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30" name="TextBox 12"/>
          <p:cNvSpPr/>
          <p:nvPr/>
        </p:nvSpPr>
        <p:spPr>
          <a:xfrm>
            <a:off x="6556320" y="2450520"/>
            <a:ext cx="4571640" cy="383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2200" b="1" u="none" strike="noStrike">
                <a:solidFill>
                  <a:srgbClr val="9b64ff"/>
                </a:solidFill>
                <a:effectLst/>
                <a:uFillTx/>
                <a:latin typeface="Cascadia Code"/>
              </a:rPr>
              <a:t>watchPosition()</a:t>
            </a:r>
            <a:endParaRPr lang="es-CO" sz="2200" b="0" u="none" strike="noStrike">
              <a:solidFill>
                <a:srgbClr val="ffffff"/>
              </a:solidFill>
              <a:effectLst/>
              <a:uFillTx/>
              <a:latin typeface="Arial"/>
            </a:endParaRPr>
          </a:p>
        </p:txBody>
      </p:sp>
      <p:sp>
        <p:nvSpPr>
          <p:cNvPr id="131" name="TextBox 13"/>
          <p:cNvSpPr/>
          <p:nvPr/>
        </p:nvSpPr>
        <p:spPr>
          <a:xfrm>
            <a:off x="6556320" y="3063240"/>
            <a:ext cx="4525920" cy="7768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700" b="0" u="none" strike="noStrike">
                <a:solidFill>
                  <a:srgbClr val="f2f7ff"/>
                </a:solidFill>
                <a:effectLst/>
                <a:uFillTx/>
                <a:latin typeface="Aptos"/>
              </a:rPr>
              <a:t>Permite recibir actualizaciones cuando cambia la posición.</a:t>
            </a:r>
            <a:endParaRPr lang="es-CO" sz="1700" b="0" u="none" strike="noStrike">
              <a:solidFill>
                <a:srgbClr val="ffffff"/>
              </a:solidFill>
              <a:effectLst/>
              <a:uFillTx/>
              <a:latin typeface="Arial"/>
            </a:endParaRPr>
          </a:p>
        </p:txBody>
      </p:sp>
      <p:sp>
        <p:nvSpPr>
          <p:cNvPr id="132" name="Rounded Rectangle 14"/>
          <p:cNvSpPr/>
          <p:nvPr/>
        </p:nvSpPr>
        <p:spPr>
          <a:xfrm>
            <a:off x="914400" y="4617720"/>
            <a:ext cx="10332360" cy="1142640"/>
          </a:xfrm>
          <a:prstGeom prst="roundRect">
            <a:avLst>
              <a:gd name="adj" fmla="val 16667"/>
            </a:avLst>
          </a:prstGeom>
          <a:solidFill>
            <a:srgbClr val="070b16"/>
          </a:solidFill>
          <a:ln w="12700">
            <a:solidFill>
              <a:srgbClr val="223a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33" name="TextBox 15"/>
          <p:cNvSpPr/>
          <p:nvPr/>
        </p:nvSpPr>
        <p:spPr>
          <a:xfrm>
            <a:off x="1078920" y="4709160"/>
            <a:ext cx="10003320" cy="2192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900" b="1" u="none" strike="noStrike">
                <a:solidFill>
                  <a:srgbClr val="2bdceb"/>
                </a:solidFill>
                <a:effectLst/>
                <a:uFillTx/>
                <a:latin typeface="Aptos"/>
              </a:rPr>
              <a:t>JAVASCRIPT</a:t>
            </a:r>
            <a:endParaRPr lang="es-CO" sz="900" b="0" u="none" strike="noStrike">
              <a:solidFill>
                <a:srgbClr val="ffffff"/>
              </a:solidFill>
              <a:effectLst/>
              <a:uFillTx/>
              <a:latin typeface="Arial"/>
            </a:endParaRPr>
          </a:p>
        </p:txBody>
      </p:sp>
      <p:sp>
        <p:nvSpPr>
          <p:cNvPr id="134" name="TextBox 16"/>
          <p:cNvSpPr/>
          <p:nvPr/>
        </p:nvSpPr>
        <p:spPr>
          <a:xfrm>
            <a:off x="1078920" y="5001840"/>
            <a:ext cx="10003320" cy="685440"/>
          </a:xfrm>
          <a:prstGeom prst="rect">
            <a:avLst/>
          </a:prstGeom>
          <a:noFill/>
          <a:ln w="0">
            <a:noFill/>
          </a:ln>
        </p:spPr>
        <p:style>
          <a:lnRef idx="0"/>
          <a:fillRef idx="0"/>
          <a:effectRef idx="0"/>
          <a:fontRef idx="minor"/>
        </p:style>
        <p:txBody>
          <a:bodyPr lIns="18360" rIns="18360" tIns="18360" bIns="45000" anchor="t">
            <a:spAutoFit/>
          </a:bodyPr>
          <a:p>
            <a:pPr defTabSz="457200">
              <a:lnSpc>
                <a:spcPct val="100000"/>
              </a:lnSpc>
              <a:spcAft>
                <a:spcPts val="201"/>
              </a:spcAft>
            </a:pPr>
            <a:r>
              <a:rPr lang="en-US" sz="1400" b="0" u="none" strike="noStrike">
                <a:solidFill>
                  <a:srgbClr val="f2f7ff"/>
                </a:solidFill>
                <a:effectLst/>
                <a:uFillTx/>
                <a:latin typeface="Cascadia Code"/>
              </a:rPr>
              <a:t>if ("geolocation" in navigator) {</a:t>
            </a:r>
            <a:endParaRPr lang="es-CO" sz="1400" b="0" u="none" strike="noStrike">
              <a:solidFill>
                <a:srgbClr val="ffffff"/>
              </a:solidFill>
              <a:effectLst/>
              <a:uFillTx/>
              <a:latin typeface="Arial"/>
            </a:endParaRPr>
          </a:p>
          <a:p>
            <a:pPr defTabSz="457200">
              <a:lnSpc>
                <a:spcPct val="100000"/>
              </a:lnSpc>
              <a:spcAft>
                <a:spcPts val="201"/>
              </a:spcAft>
            </a:pPr>
            <a:r>
              <a:rPr lang="en-US" sz="1400" b="0" u="none" strike="noStrike">
                <a:solidFill>
                  <a:srgbClr val="f2f7ff"/>
                </a:solidFill>
                <a:effectLst/>
                <a:uFillTx/>
                <a:latin typeface="Cascadia Code"/>
              </a:rPr>
              <a:t>  navigator.geolocation.getCurrentPosition(exito, error);</a:t>
            </a:r>
            <a:endParaRPr lang="es-CO" sz="1400" b="0" u="none" strike="noStrike">
              <a:solidFill>
                <a:srgbClr val="ffffff"/>
              </a:solidFill>
              <a:effectLst/>
              <a:uFillTx/>
              <a:latin typeface="Arial"/>
            </a:endParaRPr>
          </a:p>
          <a:p>
            <a:pPr defTabSz="457200">
              <a:lnSpc>
                <a:spcPct val="100000"/>
              </a:lnSpc>
              <a:spcAft>
                <a:spcPts val="201"/>
              </a:spcAft>
            </a:pPr>
            <a:r>
              <a:rPr lang="en-US" sz="1400" b="0" u="none" strike="noStrike">
                <a:solidFill>
                  <a:srgbClr val="f2f7ff"/>
                </a:solidFill>
                <a:effectLst/>
                <a:uFillTx/>
                <a:latin typeface="Cascadia Code"/>
              </a:rPr>
              <a:t>}</a:t>
            </a:r>
            <a:endParaRPr lang="es-CO"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d1d"/>
        </a:solidFill>
      </p:bgPr>
    </p:bg>
    <p:spTree>
      <p:nvGrpSpPr>
        <p:cNvPr id="1" name=""/>
        <p:cNvGrpSpPr/>
        <p:nvPr/>
      </p:nvGrpSpPr>
      <p:grpSpPr>
        <a:xfrm>
          <a:off x="0" y="0"/>
          <a:ext cx="0" cy="0"/>
          <a:chOff x="0" y="0"/>
          <a:chExt cx="0" cy="0"/>
        </a:xfrm>
      </p:grpSpPr>
      <p:sp>
        <p:nvSpPr>
          <p:cNvPr id="135" name="Oval 1"/>
          <p:cNvSpPr/>
          <p:nvPr/>
        </p:nvSpPr>
        <p:spPr>
          <a:xfrm>
            <a:off x="10607040" y="-548640"/>
            <a:ext cx="2377080" cy="2377080"/>
          </a:xfrm>
          <a:prstGeom prst="ellipse">
            <a:avLst/>
          </a:prstGeom>
          <a:solidFill>
            <a:srgbClr val="498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36" name="Oval 2"/>
          <p:cNvSpPr/>
          <p:nvPr/>
        </p:nvSpPr>
        <p:spPr>
          <a:xfrm>
            <a:off x="-822960" y="5394960"/>
            <a:ext cx="1828440" cy="1828440"/>
          </a:xfrm>
          <a:prstGeom prst="ellipse">
            <a:avLst/>
          </a:prstGeom>
          <a:solidFill>
            <a:srgbClr val="9b6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37" name="Oval 3"/>
          <p:cNvSpPr/>
          <p:nvPr/>
        </p:nvSpPr>
        <p:spPr>
          <a:xfrm>
            <a:off x="9875520" y="5852160"/>
            <a:ext cx="1096920" cy="1096920"/>
          </a:xfrm>
          <a:prstGeom prst="ellipse">
            <a:avLst/>
          </a:prstGeom>
          <a:solidFill>
            <a:srgbClr val="2bdc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38" name="TextBox 4"/>
          <p:cNvSpPr/>
          <p:nvPr/>
        </p:nvSpPr>
        <p:spPr>
          <a:xfrm>
            <a:off x="640080" y="384120"/>
            <a:ext cx="7772040" cy="2923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100" b="1" u="none" strike="noStrike">
                <a:solidFill>
                  <a:srgbClr val="2bdceb"/>
                </a:solidFill>
                <a:effectLst/>
                <a:uFillTx/>
                <a:latin typeface="Aptos"/>
              </a:rPr>
              <a:t>04 · LEER LOS DATOS</a:t>
            </a:r>
            <a:endParaRPr lang="es-CO" sz="1100" b="0" u="none" strike="noStrike">
              <a:solidFill>
                <a:srgbClr val="ffffff"/>
              </a:solidFill>
              <a:effectLst/>
              <a:uFillTx/>
              <a:latin typeface="Arial"/>
            </a:endParaRPr>
          </a:p>
        </p:txBody>
      </p:sp>
      <p:sp>
        <p:nvSpPr>
          <p:cNvPr id="139" name="TextBox 5"/>
          <p:cNvSpPr/>
          <p:nvPr/>
        </p:nvSpPr>
        <p:spPr>
          <a:xfrm>
            <a:off x="640080" y="749880"/>
            <a:ext cx="10789560" cy="6213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3000" b="1" u="none" strike="noStrike">
                <a:solidFill>
                  <a:srgbClr val="f2f7ff"/>
                </a:solidFill>
                <a:effectLst/>
                <a:uFillTx/>
                <a:latin typeface="Aptos"/>
              </a:rPr>
              <a:t>Latitud, longitud y precisión</a:t>
            </a:r>
            <a:endParaRPr lang="es-CO" sz="3000" b="0" u="none" strike="noStrike">
              <a:solidFill>
                <a:srgbClr val="ffffff"/>
              </a:solidFill>
              <a:effectLst/>
              <a:uFillTx/>
              <a:latin typeface="Arial"/>
            </a:endParaRPr>
          </a:p>
        </p:txBody>
      </p:sp>
      <p:sp>
        <p:nvSpPr>
          <p:cNvPr id="140" name="TextBox 6"/>
          <p:cNvSpPr/>
          <p:nvPr/>
        </p:nvSpPr>
        <p:spPr>
          <a:xfrm>
            <a:off x="676800" y="1398960"/>
            <a:ext cx="10515240" cy="4384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400" b="0" u="none" strike="noStrike">
                <a:solidFill>
                  <a:srgbClr val="a6b7d3"/>
                </a:solidFill>
                <a:effectLst/>
                <a:uFillTx/>
                <a:latin typeface="Aptos"/>
              </a:rPr>
              <a:t>Estos valores vienen dentro de position.coords.</a:t>
            </a:r>
            <a:endParaRPr lang="es-CO" sz="1400" b="0" u="none" strike="noStrike">
              <a:solidFill>
                <a:srgbClr val="ffffff"/>
              </a:solidFill>
              <a:effectLst/>
              <a:uFillTx/>
              <a:latin typeface="Arial"/>
            </a:endParaRPr>
          </a:p>
        </p:txBody>
      </p:sp>
      <p:sp>
        <p:nvSpPr>
          <p:cNvPr id="141" name="TextBox 7"/>
          <p:cNvSpPr/>
          <p:nvPr/>
        </p:nvSpPr>
        <p:spPr>
          <a:xfrm>
            <a:off x="11064240" y="6446520"/>
            <a:ext cx="502560" cy="2282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lang="en-US" sz="1000" b="1" u="none" strike="noStrike">
                <a:solidFill>
                  <a:srgbClr val="a6b7d3"/>
                </a:solidFill>
                <a:effectLst/>
                <a:uFillTx/>
                <a:latin typeface="Aptos"/>
              </a:rPr>
              <a:t>05/10</a:t>
            </a:r>
            <a:endParaRPr lang="es-CO" sz="1000" b="0" u="none" strike="noStrike">
              <a:solidFill>
                <a:srgbClr val="ffffff"/>
              </a:solidFill>
              <a:effectLst/>
              <a:uFillTx/>
              <a:latin typeface="Arial"/>
            </a:endParaRPr>
          </a:p>
        </p:txBody>
      </p:sp>
      <p:sp>
        <p:nvSpPr>
          <p:cNvPr id="142" name="Rounded Rectangle 8"/>
          <p:cNvSpPr/>
          <p:nvPr/>
        </p:nvSpPr>
        <p:spPr>
          <a:xfrm>
            <a:off x="731520" y="2331720"/>
            <a:ext cx="3154320" cy="2285640"/>
          </a:xfrm>
          <a:prstGeom prst="roundRect">
            <a:avLst>
              <a:gd name="adj" fmla="val 16667"/>
            </a:avLst>
          </a:prstGeom>
          <a:solidFill>
            <a:srgbClr val="162442"/>
          </a:solidFill>
          <a:ln w="12700">
            <a:solidFill>
              <a:srgbClr val="2bdc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43" name="TextBox 9"/>
          <p:cNvSpPr/>
          <p:nvPr/>
        </p:nvSpPr>
        <p:spPr>
          <a:xfrm>
            <a:off x="932760" y="2633400"/>
            <a:ext cx="2742840" cy="3654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500" b="1" u="none" strike="noStrike">
                <a:solidFill>
                  <a:srgbClr val="2bdceb"/>
                </a:solidFill>
                <a:effectLst/>
                <a:uFillTx/>
                <a:latin typeface="Aptos"/>
              </a:rPr>
              <a:t>LATITUD</a:t>
            </a:r>
            <a:endParaRPr lang="es-CO" sz="1500" b="0" u="none" strike="noStrike">
              <a:solidFill>
                <a:srgbClr val="ffffff"/>
              </a:solidFill>
              <a:effectLst/>
              <a:uFillTx/>
              <a:latin typeface="Arial"/>
            </a:endParaRPr>
          </a:p>
        </p:txBody>
      </p:sp>
      <p:sp>
        <p:nvSpPr>
          <p:cNvPr id="144" name="TextBox 10"/>
          <p:cNvSpPr/>
          <p:nvPr/>
        </p:nvSpPr>
        <p:spPr>
          <a:xfrm>
            <a:off x="932760" y="3218760"/>
            <a:ext cx="2697120" cy="9140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700" b="1" u="none" strike="noStrike">
                <a:solidFill>
                  <a:srgbClr val="f2f7ff"/>
                </a:solidFill>
                <a:effectLst/>
                <a:uFillTx/>
                <a:latin typeface="Aptos"/>
              </a:rPr>
              <a:t>Norte o sur del ecuador</a:t>
            </a:r>
            <a:endParaRPr lang="es-CO" sz="1700" b="0" u="none" strike="noStrike">
              <a:solidFill>
                <a:srgbClr val="ffffff"/>
              </a:solidFill>
              <a:effectLst/>
              <a:uFillTx/>
              <a:latin typeface="Arial"/>
            </a:endParaRPr>
          </a:p>
        </p:txBody>
      </p:sp>
      <p:sp>
        <p:nvSpPr>
          <p:cNvPr id="145" name="Rounded Rectangle 11"/>
          <p:cNvSpPr/>
          <p:nvPr/>
        </p:nvSpPr>
        <p:spPr>
          <a:xfrm>
            <a:off x="4526280" y="2331720"/>
            <a:ext cx="3154320" cy="2285640"/>
          </a:xfrm>
          <a:prstGeom prst="roundRect">
            <a:avLst>
              <a:gd name="adj" fmla="val 16667"/>
            </a:avLst>
          </a:prstGeom>
          <a:solidFill>
            <a:srgbClr val="162442"/>
          </a:solidFill>
          <a:ln w="12700">
            <a:solidFill>
              <a:srgbClr val="498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46" name="TextBox 12"/>
          <p:cNvSpPr/>
          <p:nvPr/>
        </p:nvSpPr>
        <p:spPr>
          <a:xfrm>
            <a:off x="4727520" y="2633400"/>
            <a:ext cx="2742840" cy="3654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500" b="1" u="none" strike="noStrike">
                <a:solidFill>
                  <a:srgbClr val="4984ff"/>
                </a:solidFill>
                <a:effectLst/>
                <a:uFillTx/>
                <a:latin typeface="Aptos"/>
              </a:rPr>
              <a:t>LONGITUD</a:t>
            </a:r>
            <a:endParaRPr lang="es-CO" sz="1500" b="0" u="none" strike="noStrike">
              <a:solidFill>
                <a:srgbClr val="ffffff"/>
              </a:solidFill>
              <a:effectLst/>
              <a:uFillTx/>
              <a:latin typeface="Arial"/>
            </a:endParaRPr>
          </a:p>
        </p:txBody>
      </p:sp>
      <p:sp>
        <p:nvSpPr>
          <p:cNvPr id="147" name="TextBox 13"/>
          <p:cNvSpPr/>
          <p:nvPr/>
        </p:nvSpPr>
        <p:spPr>
          <a:xfrm>
            <a:off x="4727520" y="3218760"/>
            <a:ext cx="2697120" cy="9140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700" b="1" u="none" strike="noStrike">
                <a:solidFill>
                  <a:srgbClr val="f2f7ff"/>
                </a:solidFill>
                <a:effectLst/>
                <a:uFillTx/>
                <a:latin typeface="Aptos"/>
              </a:rPr>
              <a:t>Este u oeste del meridiano de referencia</a:t>
            </a:r>
            <a:endParaRPr lang="es-CO" sz="1700" b="0" u="none" strike="noStrike">
              <a:solidFill>
                <a:srgbClr val="ffffff"/>
              </a:solidFill>
              <a:effectLst/>
              <a:uFillTx/>
              <a:latin typeface="Arial"/>
            </a:endParaRPr>
          </a:p>
        </p:txBody>
      </p:sp>
      <p:sp>
        <p:nvSpPr>
          <p:cNvPr id="148" name="Rounded Rectangle 14"/>
          <p:cNvSpPr/>
          <p:nvPr/>
        </p:nvSpPr>
        <p:spPr>
          <a:xfrm>
            <a:off x="8321040" y="2331720"/>
            <a:ext cx="3154320" cy="2285640"/>
          </a:xfrm>
          <a:prstGeom prst="roundRect">
            <a:avLst>
              <a:gd name="adj" fmla="val 16667"/>
            </a:avLst>
          </a:prstGeom>
          <a:solidFill>
            <a:srgbClr val="162442"/>
          </a:solidFill>
          <a:ln w="12700">
            <a:solidFill>
              <a:srgbClr val="40de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49" name="TextBox 15"/>
          <p:cNvSpPr/>
          <p:nvPr/>
        </p:nvSpPr>
        <p:spPr>
          <a:xfrm>
            <a:off x="8522280" y="2633400"/>
            <a:ext cx="2742840" cy="3654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500" b="1" u="none" strike="noStrike">
                <a:solidFill>
                  <a:srgbClr val="40dea0"/>
                </a:solidFill>
                <a:effectLst/>
                <a:uFillTx/>
                <a:latin typeface="Aptos"/>
              </a:rPr>
              <a:t>PRECISIÓN</a:t>
            </a:r>
            <a:endParaRPr lang="es-CO" sz="1500" b="0" u="none" strike="noStrike">
              <a:solidFill>
                <a:srgbClr val="ffffff"/>
              </a:solidFill>
              <a:effectLst/>
              <a:uFillTx/>
              <a:latin typeface="Arial"/>
            </a:endParaRPr>
          </a:p>
        </p:txBody>
      </p:sp>
      <p:sp>
        <p:nvSpPr>
          <p:cNvPr id="150" name="TextBox 16"/>
          <p:cNvSpPr/>
          <p:nvPr/>
        </p:nvSpPr>
        <p:spPr>
          <a:xfrm>
            <a:off x="8522280" y="3218760"/>
            <a:ext cx="2697120" cy="9140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700" b="1" u="none" strike="noStrike">
                <a:solidFill>
                  <a:srgbClr val="f2f7ff"/>
                </a:solidFill>
                <a:effectLst/>
                <a:uFillTx/>
                <a:latin typeface="Aptos"/>
              </a:rPr>
              <a:t>Radio estimado de incertidumbre, en metros</a:t>
            </a:r>
            <a:endParaRPr lang="es-CO" sz="1700" b="0" u="none" strike="noStrike">
              <a:solidFill>
                <a:srgbClr val="ffffff"/>
              </a:solidFill>
              <a:effectLst/>
              <a:uFillTx/>
              <a:latin typeface="Arial"/>
            </a:endParaRPr>
          </a:p>
        </p:txBody>
      </p:sp>
      <p:sp>
        <p:nvSpPr>
          <p:cNvPr id="151" name="TextBox 17"/>
          <p:cNvSpPr/>
          <p:nvPr/>
        </p:nvSpPr>
        <p:spPr>
          <a:xfrm>
            <a:off x="914400" y="5074920"/>
            <a:ext cx="10058040" cy="548280"/>
          </a:xfrm>
          <a:prstGeom prst="rect">
            <a:avLst/>
          </a:prstGeom>
          <a:noFill/>
          <a:ln w="0">
            <a:noFill/>
          </a:ln>
        </p:spPr>
        <p:style>
          <a:lnRef idx="0"/>
          <a:fillRef idx="0"/>
          <a:effectRef idx="0"/>
          <a:fontRef idx="minor"/>
        </p:style>
        <p:txBody>
          <a:bodyPr lIns="36720" rIns="36720" tIns="36720" bIns="36720" anchor="t">
            <a:spAutoFit/>
          </a:bodyPr>
          <a:p>
            <a:pPr algn="ctr" defTabSz="457200">
              <a:lnSpc>
                <a:spcPct val="100000"/>
              </a:lnSpc>
            </a:pPr>
            <a:r>
              <a:rPr lang="en-US" sz="1700" b="1" u="none" strike="noStrike">
                <a:solidFill>
                  <a:srgbClr val="ffae52"/>
                </a:solidFill>
                <a:effectLst/>
                <a:uFillTx/>
                <a:latin typeface="Aptos"/>
              </a:rPr>
              <a:t>Ejemplo: accuracy = 50 m → precisión estimada dentro de un radio aproximado de 50 m.</a:t>
            </a:r>
            <a:endParaRPr lang="es-CO" sz="17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d1d"/>
        </a:solidFill>
      </p:bgPr>
    </p:bg>
    <p:spTree>
      <p:nvGrpSpPr>
        <p:cNvPr id="1" name=""/>
        <p:cNvGrpSpPr/>
        <p:nvPr/>
      </p:nvGrpSpPr>
      <p:grpSpPr>
        <a:xfrm>
          <a:off x="0" y="0"/>
          <a:ext cx="0" cy="0"/>
          <a:chOff x="0" y="0"/>
          <a:chExt cx="0" cy="0"/>
        </a:xfrm>
      </p:grpSpPr>
      <p:sp>
        <p:nvSpPr>
          <p:cNvPr id="152" name="Oval 1"/>
          <p:cNvSpPr/>
          <p:nvPr/>
        </p:nvSpPr>
        <p:spPr>
          <a:xfrm>
            <a:off x="10607040" y="-548640"/>
            <a:ext cx="2377080" cy="2377080"/>
          </a:xfrm>
          <a:prstGeom prst="ellipse">
            <a:avLst/>
          </a:prstGeom>
          <a:solidFill>
            <a:srgbClr val="498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53" name="Oval 2"/>
          <p:cNvSpPr/>
          <p:nvPr/>
        </p:nvSpPr>
        <p:spPr>
          <a:xfrm>
            <a:off x="-822960" y="5394960"/>
            <a:ext cx="1828440" cy="1828440"/>
          </a:xfrm>
          <a:prstGeom prst="ellipse">
            <a:avLst/>
          </a:prstGeom>
          <a:solidFill>
            <a:srgbClr val="9b6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54" name="Oval 3"/>
          <p:cNvSpPr/>
          <p:nvPr/>
        </p:nvSpPr>
        <p:spPr>
          <a:xfrm>
            <a:off x="9875520" y="5852160"/>
            <a:ext cx="1096920" cy="1096920"/>
          </a:xfrm>
          <a:prstGeom prst="ellipse">
            <a:avLst/>
          </a:prstGeom>
          <a:solidFill>
            <a:srgbClr val="2bdc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55" name="TextBox 4"/>
          <p:cNvSpPr/>
          <p:nvPr/>
        </p:nvSpPr>
        <p:spPr>
          <a:xfrm>
            <a:off x="640080" y="384120"/>
            <a:ext cx="7772040" cy="2923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100" b="1" u="none" strike="noStrike">
                <a:solidFill>
                  <a:srgbClr val="2bdceb"/>
                </a:solidFill>
                <a:effectLst/>
                <a:uFillTx/>
                <a:latin typeface="Aptos"/>
              </a:rPr>
              <a:t>05 · EJEMPLO DE CÓDIGO</a:t>
            </a:r>
            <a:endParaRPr lang="es-CO" sz="1100" b="0" u="none" strike="noStrike">
              <a:solidFill>
                <a:srgbClr val="ffffff"/>
              </a:solidFill>
              <a:effectLst/>
              <a:uFillTx/>
              <a:latin typeface="Arial"/>
            </a:endParaRPr>
          </a:p>
        </p:txBody>
      </p:sp>
      <p:sp>
        <p:nvSpPr>
          <p:cNvPr id="156" name="TextBox 5"/>
          <p:cNvSpPr/>
          <p:nvPr/>
        </p:nvSpPr>
        <p:spPr>
          <a:xfrm>
            <a:off x="640080" y="749880"/>
            <a:ext cx="10789560" cy="6213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3000" b="1" u="none" strike="noStrike">
                <a:solidFill>
                  <a:srgbClr val="f2f7ff"/>
                </a:solidFill>
                <a:effectLst/>
                <a:uFillTx/>
                <a:latin typeface="Aptos"/>
              </a:rPr>
              <a:t>Solicitar y mostrar la posición</a:t>
            </a:r>
            <a:endParaRPr lang="es-CO" sz="3000" b="0" u="none" strike="noStrike">
              <a:solidFill>
                <a:srgbClr val="ffffff"/>
              </a:solidFill>
              <a:effectLst/>
              <a:uFillTx/>
              <a:latin typeface="Arial"/>
            </a:endParaRPr>
          </a:p>
        </p:txBody>
      </p:sp>
      <p:sp>
        <p:nvSpPr>
          <p:cNvPr id="157" name="TextBox 7"/>
          <p:cNvSpPr/>
          <p:nvPr/>
        </p:nvSpPr>
        <p:spPr>
          <a:xfrm>
            <a:off x="11064240" y="6446520"/>
            <a:ext cx="502560" cy="2282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lang="en-US" sz="1000" b="1" u="none" strike="noStrike">
                <a:solidFill>
                  <a:srgbClr val="a6b7d3"/>
                </a:solidFill>
                <a:effectLst/>
                <a:uFillTx/>
                <a:latin typeface="Aptos"/>
              </a:rPr>
              <a:t>06/10</a:t>
            </a:r>
            <a:endParaRPr lang="es-CO" sz="1000" b="0" u="none" strike="noStrike">
              <a:solidFill>
                <a:srgbClr val="ffffff"/>
              </a:solidFill>
              <a:effectLst/>
              <a:uFillTx/>
              <a:latin typeface="Arial"/>
            </a:endParaRPr>
          </a:p>
        </p:txBody>
      </p:sp>
      <p:sp>
        <p:nvSpPr>
          <p:cNvPr id="158" name="Rounded Rectangle 8"/>
          <p:cNvSpPr/>
          <p:nvPr/>
        </p:nvSpPr>
        <p:spPr>
          <a:xfrm>
            <a:off x="777240" y="1965960"/>
            <a:ext cx="6583320" cy="3977280"/>
          </a:xfrm>
          <a:prstGeom prst="roundRect">
            <a:avLst>
              <a:gd name="adj" fmla="val 16667"/>
            </a:avLst>
          </a:prstGeom>
          <a:solidFill>
            <a:srgbClr val="070b16"/>
          </a:solidFill>
          <a:ln w="12700">
            <a:solidFill>
              <a:srgbClr val="223a5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59" name="TextBox 9"/>
          <p:cNvSpPr/>
          <p:nvPr/>
        </p:nvSpPr>
        <p:spPr>
          <a:xfrm>
            <a:off x="941760" y="2057400"/>
            <a:ext cx="6254280" cy="2192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900" b="1" u="none" strike="noStrike">
                <a:solidFill>
                  <a:srgbClr val="2bdceb"/>
                </a:solidFill>
                <a:effectLst/>
                <a:uFillTx/>
                <a:latin typeface="Aptos"/>
              </a:rPr>
              <a:t>JAVASCRIPT</a:t>
            </a:r>
            <a:endParaRPr lang="es-CO" sz="900" b="0" u="none" strike="noStrike">
              <a:solidFill>
                <a:srgbClr val="ffffff"/>
              </a:solidFill>
              <a:effectLst/>
              <a:uFillTx/>
              <a:latin typeface="Arial"/>
            </a:endParaRPr>
          </a:p>
        </p:txBody>
      </p:sp>
      <p:sp>
        <p:nvSpPr>
          <p:cNvPr id="160" name="TextBox 10"/>
          <p:cNvSpPr/>
          <p:nvPr/>
        </p:nvSpPr>
        <p:spPr>
          <a:xfrm>
            <a:off x="941760" y="2350080"/>
            <a:ext cx="6254280" cy="3520080"/>
          </a:xfrm>
          <a:prstGeom prst="rect">
            <a:avLst/>
          </a:prstGeom>
          <a:noFill/>
          <a:ln w="0">
            <a:noFill/>
          </a:ln>
        </p:spPr>
        <p:style>
          <a:lnRef idx="0"/>
          <a:fillRef idx="0"/>
          <a:effectRef idx="0"/>
          <a:fontRef idx="minor"/>
        </p:style>
        <p:txBody>
          <a:bodyPr lIns="18360" rIns="18360" tIns="18360" bIns="45000" anchor="t">
            <a:spAutoFit/>
          </a:bodyPr>
          <a:p>
            <a:pPr defTabSz="457200">
              <a:lnSpc>
                <a:spcPct val="100000"/>
              </a:lnSpc>
              <a:spcAft>
                <a:spcPts val="201"/>
              </a:spcAft>
            </a:pPr>
            <a:r>
              <a:rPr lang="en-US" sz="1400" b="0" u="none" strike="noStrike">
                <a:solidFill>
                  <a:srgbClr val="f2f7ff"/>
                </a:solidFill>
                <a:effectLst/>
                <a:uFillTx/>
                <a:latin typeface="Cascadia Code"/>
              </a:rPr>
              <a:t>navigator.geolocation.getCurrentPosition(</a:t>
            </a:r>
            <a:endParaRPr lang="es-CO" sz="1400" b="0" u="none" strike="noStrike">
              <a:solidFill>
                <a:srgbClr val="ffffff"/>
              </a:solidFill>
              <a:effectLst/>
              <a:uFillTx/>
              <a:latin typeface="Arial"/>
            </a:endParaRPr>
          </a:p>
          <a:p>
            <a:pPr defTabSz="457200">
              <a:lnSpc>
                <a:spcPct val="100000"/>
              </a:lnSpc>
              <a:spcAft>
                <a:spcPts val="201"/>
              </a:spcAft>
            </a:pPr>
            <a:r>
              <a:rPr lang="en-US" sz="1400" b="0" u="none" strike="noStrike">
                <a:solidFill>
                  <a:srgbClr val="40dea0"/>
                </a:solidFill>
                <a:effectLst/>
                <a:uFillTx/>
                <a:latin typeface="Cascadia Code"/>
              </a:rPr>
              <a:t>  (posicion) =&gt; {</a:t>
            </a:r>
            <a:endParaRPr lang="es-CO" sz="1400" b="0" u="none" strike="noStrike">
              <a:solidFill>
                <a:srgbClr val="ffffff"/>
              </a:solidFill>
              <a:effectLst/>
              <a:uFillTx/>
              <a:latin typeface="Arial"/>
            </a:endParaRPr>
          </a:p>
          <a:p>
            <a:pPr defTabSz="457200">
              <a:lnSpc>
                <a:spcPct val="100000"/>
              </a:lnSpc>
              <a:spcAft>
                <a:spcPts val="201"/>
              </a:spcAft>
            </a:pPr>
            <a:r>
              <a:rPr lang="en-US" sz="1400" b="0" u="none" strike="noStrike">
                <a:solidFill>
                  <a:srgbClr val="f2f7ff"/>
                </a:solidFill>
                <a:effectLst/>
                <a:uFillTx/>
                <a:latin typeface="Cascadia Code"/>
              </a:rPr>
              <a:t>    const coords = posicion.coords;</a:t>
            </a:r>
            <a:endParaRPr lang="es-CO" sz="1400" b="0" u="none" strike="noStrike">
              <a:solidFill>
                <a:srgbClr val="ffffff"/>
              </a:solidFill>
              <a:effectLst/>
              <a:uFillTx/>
              <a:latin typeface="Arial"/>
            </a:endParaRPr>
          </a:p>
          <a:p>
            <a:pPr defTabSz="457200">
              <a:lnSpc>
                <a:spcPct val="100000"/>
              </a:lnSpc>
              <a:spcAft>
                <a:spcPts val="201"/>
              </a:spcAft>
            </a:pPr>
            <a:r>
              <a:rPr lang="en-US" sz="1400" b="0" u="none" strike="noStrike">
                <a:solidFill>
                  <a:srgbClr val="f2f7ff"/>
                </a:solidFill>
                <a:effectLst/>
                <a:uFillTx/>
                <a:latin typeface="Cascadia Code"/>
              </a:rPr>
              <a:t>    console.log("Latitud:", coords.latitude);</a:t>
            </a:r>
            <a:endParaRPr lang="es-CO" sz="1400" b="0" u="none" strike="noStrike">
              <a:solidFill>
                <a:srgbClr val="ffffff"/>
              </a:solidFill>
              <a:effectLst/>
              <a:uFillTx/>
              <a:latin typeface="Arial"/>
            </a:endParaRPr>
          </a:p>
          <a:p>
            <a:pPr defTabSz="457200">
              <a:lnSpc>
                <a:spcPct val="100000"/>
              </a:lnSpc>
              <a:spcAft>
                <a:spcPts val="201"/>
              </a:spcAft>
            </a:pPr>
            <a:r>
              <a:rPr lang="en-US" sz="1400" b="0" u="none" strike="noStrike">
                <a:solidFill>
                  <a:srgbClr val="f2f7ff"/>
                </a:solidFill>
                <a:effectLst/>
                <a:uFillTx/>
                <a:latin typeface="Cascadia Code"/>
              </a:rPr>
              <a:t>    console.log("Longitud:", coords.longitude);</a:t>
            </a:r>
            <a:endParaRPr lang="es-CO" sz="1400" b="0" u="none" strike="noStrike">
              <a:solidFill>
                <a:srgbClr val="ffffff"/>
              </a:solidFill>
              <a:effectLst/>
              <a:uFillTx/>
              <a:latin typeface="Arial"/>
            </a:endParaRPr>
          </a:p>
          <a:p>
            <a:pPr defTabSz="457200">
              <a:lnSpc>
                <a:spcPct val="100000"/>
              </a:lnSpc>
              <a:spcAft>
                <a:spcPts val="201"/>
              </a:spcAft>
            </a:pPr>
            <a:r>
              <a:rPr lang="en-US" sz="1400" b="0" u="none" strike="noStrike">
                <a:solidFill>
                  <a:srgbClr val="f2f7ff"/>
                </a:solidFill>
                <a:effectLst/>
                <a:uFillTx/>
                <a:latin typeface="Cascadia Code"/>
              </a:rPr>
              <a:t>    console.log("Precisión:", coords.accuracy, "m");</a:t>
            </a:r>
            <a:endParaRPr lang="es-CO" sz="1400" b="0" u="none" strike="noStrike">
              <a:solidFill>
                <a:srgbClr val="ffffff"/>
              </a:solidFill>
              <a:effectLst/>
              <a:uFillTx/>
              <a:latin typeface="Arial"/>
            </a:endParaRPr>
          </a:p>
          <a:p>
            <a:pPr defTabSz="457200">
              <a:lnSpc>
                <a:spcPct val="100000"/>
              </a:lnSpc>
              <a:spcAft>
                <a:spcPts val="201"/>
              </a:spcAft>
            </a:pPr>
            <a:r>
              <a:rPr lang="en-US" sz="1400" b="0" u="none" strike="noStrike">
                <a:solidFill>
                  <a:srgbClr val="f2f7ff"/>
                </a:solidFill>
                <a:effectLst/>
                <a:uFillTx/>
                <a:latin typeface="Cascadia Code"/>
              </a:rPr>
              <a:t>  },</a:t>
            </a:r>
            <a:endParaRPr lang="es-CO" sz="1400" b="0" u="none" strike="noStrike">
              <a:solidFill>
                <a:srgbClr val="ffffff"/>
              </a:solidFill>
              <a:effectLst/>
              <a:uFillTx/>
              <a:latin typeface="Arial"/>
            </a:endParaRPr>
          </a:p>
          <a:p>
            <a:pPr defTabSz="457200">
              <a:lnSpc>
                <a:spcPct val="100000"/>
              </a:lnSpc>
              <a:spcAft>
                <a:spcPts val="201"/>
              </a:spcAft>
            </a:pPr>
            <a:r>
              <a:rPr lang="en-US" sz="1400" b="0" u="none" strike="noStrike">
                <a:solidFill>
                  <a:srgbClr val="40dea0"/>
                </a:solidFill>
                <a:effectLst/>
                <a:uFillTx/>
                <a:latin typeface="Cascadia Code"/>
              </a:rPr>
              <a:t>  (error) =&gt; {</a:t>
            </a:r>
            <a:endParaRPr lang="es-CO" sz="1400" b="0" u="none" strike="noStrike">
              <a:solidFill>
                <a:srgbClr val="ffffff"/>
              </a:solidFill>
              <a:effectLst/>
              <a:uFillTx/>
              <a:latin typeface="Arial"/>
            </a:endParaRPr>
          </a:p>
          <a:p>
            <a:pPr defTabSz="457200">
              <a:lnSpc>
                <a:spcPct val="100000"/>
              </a:lnSpc>
              <a:spcAft>
                <a:spcPts val="201"/>
              </a:spcAft>
            </a:pPr>
            <a:r>
              <a:rPr lang="en-US" sz="1400" b="0" u="none" strike="noStrike">
                <a:solidFill>
                  <a:srgbClr val="f2f7ff"/>
                </a:solidFill>
                <a:effectLst/>
                <a:uFillTx/>
                <a:latin typeface="Cascadia Code"/>
              </a:rPr>
              <a:t>    console.log("No se pudo obtener la ubicación", error);</a:t>
            </a:r>
            <a:endParaRPr lang="es-CO" sz="1400" b="0" u="none" strike="noStrike">
              <a:solidFill>
                <a:srgbClr val="ffffff"/>
              </a:solidFill>
              <a:effectLst/>
              <a:uFillTx/>
              <a:latin typeface="Arial"/>
            </a:endParaRPr>
          </a:p>
          <a:p>
            <a:pPr defTabSz="457200">
              <a:lnSpc>
                <a:spcPct val="100000"/>
              </a:lnSpc>
              <a:spcAft>
                <a:spcPts val="201"/>
              </a:spcAft>
            </a:pPr>
            <a:r>
              <a:rPr lang="en-US" sz="1400" b="0" u="none" strike="noStrike">
                <a:solidFill>
                  <a:srgbClr val="f2f7ff"/>
                </a:solidFill>
                <a:effectLst/>
                <a:uFillTx/>
                <a:latin typeface="Cascadia Code"/>
              </a:rPr>
              <a:t>  },</a:t>
            </a:r>
            <a:endParaRPr lang="es-CO" sz="1400" b="0" u="none" strike="noStrike">
              <a:solidFill>
                <a:srgbClr val="ffffff"/>
              </a:solidFill>
              <a:effectLst/>
              <a:uFillTx/>
              <a:latin typeface="Arial"/>
            </a:endParaRPr>
          </a:p>
          <a:p>
            <a:pPr defTabSz="457200">
              <a:lnSpc>
                <a:spcPct val="100000"/>
              </a:lnSpc>
              <a:spcAft>
                <a:spcPts val="201"/>
              </a:spcAft>
            </a:pPr>
            <a:r>
              <a:rPr lang="en-US" sz="1400" b="0" u="none" strike="noStrike">
                <a:solidFill>
                  <a:srgbClr val="f2f7ff"/>
                </a:solidFill>
                <a:effectLst/>
                <a:uFillTx/>
                <a:latin typeface="Cascadia Code"/>
              </a:rPr>
              <a:t>  { enableHighAccuracy: true, timeout: 10000 }</a:t>
            </a:r>
            <a:endParaRPr lang="es-CO" sz="1400" b="0" u="none" strike="noStrike">
              <a:solidFill>
                <a:srgbClr val="ffffff"/>
              </a:solidFill>
              <a:effectLst/>
              <a:uFillTx/>
              <a:latin typeface="Arial"/>
            </a:endParaRPr>
          </a:p>
          <a:p>
            <a:pPr defTabSz="457200">
              <a:lnSpc>
                <a:spcPct val="100000"/>
              </a:lnSpc>
              <a:spcAft>
                <a:spcPts val="201"/>
              </a:spcAft>
            </a:pPr>
            <a:r>
              <a:rPr lang="en-US" sz="1400" b="0" u="none" strike="noStrike">
                <a:solidFill>
                  <a:srgbClr val="f2f7ff"/>
                </a:solidFill>
                <a:effectLst/>
                <a:uFillTx/>
                <a:latin typeface="Cascadia Code"/>
              </a:rPr>
              <a:t>);</a:t>
            </a:r>
            <a:endParaRPr lang="es-CO" sz="1400" b="0" u="none" strike="noStrike">
              <a:solidFill>
                <a:srgbClr val="ffffff"/>
              </a:solidFill>
              <a:effectLst/>
              <a:uFillTx/>
              <a:latin typeface="Arial"/>
            </a:endParaRPr>
          </a:p>
        </p:txBody>
      </p:sp>
      <p:sp>
        <p:nvSpPr>
          <p:cNvPr id="161" name="Rounded Rectangle 11"/>
          <p:cNvSpPr/>
          <p:nvPr/>
        </p:nvSpPr>
        <p:spPr>
          <a:xfrm>
            <a:off x="7726680" y="2148840"/>
            <a:ext cx="3611520" cy="1188360"/>
          </a:xfrm>
          <a:prstGeom prst="roundRect">
            <a:avLst>
              <a:gd name="adj" fmla="val 16667"/>
            </a:avLst>
          </a:prstGeom>
          <a:solidFill>
            <a:srgbClr val="162442"/>
          </a:solidFill>
          <a:ln w="12700">
            <a:solidFill>
              <a:srgbClr val="40de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62" name="TextBox 12"/>
          <p:cNvSpPr/>
          <p:nvPr/>
        </p:nvSpPr>
        <p:spPr>
          <a:xfrm>
            <a:off x="8001000" y="2377440"/>
            <a:ext cx="3062880" cy="319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300" b="1" u="none" strike="noStrike">
                <a:solidFill>
                  <a:srgbClr val="40dea0"/>
                </a:solidFill>
                <a:effectLst/>
                <a:uFillTx/>
                <a:latin typeface="Aptos"/>
              </a:rPr>
              <a:t>ÉXITO</a:t>
            </a:r>
            <a:endParaRPr lang="es-CO" sz="1300" b="0" u="none" strike="noStrike">
              <a:solidFill>
                <a:srgbClr val="ffffff"/>
              </a:solidFill>
              <a:effectLst/>
              <a:uFillTx/>
              <a:latin typeface="Arial"/>
            </a:endParaRPr>
          </a:p>
        </p:txBody>
      </p:sp>
      <p:sp>
        <p:nvSpPr>
          <p:cNvPr id="163" name="TextBox 13"/>
          <p:cNvSpPr/>
          <p:nvPr/>
        </p:nvSpPr>
        <p:spPr>
          <a:xfrm>
            <a:off x="8001000" y="2743200"/>
            <a:ext cx="2925720" cy="383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600" b="1" u="none" strike="noStrike">
                <a:solidFill>
                  <a:srgbClr val="f2f7ff"/>
                </a:solidFill>
                <a:effectLst/>
                <a:uFillTx/>
                <a:latin typeface="Aptos"/>
              </a:rPr>
              <a:t>Recibe coordenadas</a:t>
            </a:r>
            <a:endParaRPr lang="es-CO" sz="1600" b="0" u="none" strike="noStrike">
              <a:solidFill>
                <a:srgbClr val="ffffff"/>
              </a:solidFill>
              <a:effectLst/>
              <a:uFillTx/>
              <a:latin typeface="Arial"/>
            </a:endParaRPr>
          </a:p>
        </p:txBody>
      </p:sp>
      <p:sp>
        <p:nvSpPr>
          <p:cNvPr id="164" name="Rounded Rectangle 14"/>
          <p:cNvSpPr/>
          <p:nvPr/>
        </p:nvSpPr>
        <p:spPr>
          <a:xfrm>
            <a:off x="7726680" y="3657600"/>
            <a:ext cx="3611520" cy="1188360"/>
          </a:xfrm>
          <a:prstGeom prst="roundRect">
            <a:avLst>
              <a:gd name="adj" fmla="val 16667"/>
            </a:avLst>
          </a:prstGeom>
          <a:solidFill>
            <a:srgbClr val="162442"/>
          </a:solidFill>
          <a:ln w="12700">
            <a:solidFill>
              <a:srgbClr val="ff647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65" name="TextBox 15"/>
          <p:cNvSpPr/>
          <p:nvPr/>
        </p:nvSpPr>
        <p:spPr>
          <a:xfrm>
            <a:off x="8001000" y="3886200"/>
            <a:ext cx="3062880" cy="319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300" b="1" u="none" strike="noStrike">
                <a:solidFill>
                  <a:srgbClr val="ff647d"/>
                </a:solidFill>
                <a:effectLst/>
                <a:uFillTx/>
                <a:latin typeface="Aptos"/>
              </a:rPr>
              <a:t>ERROR</a:t>
            </a:r>
            <a:endParaRPr lang="es-CO" sz="1300" b="0" u="none" strike="noStrike">
              <a:solidFill>
                <a:srgbClr val="ffffff"/>
              </a:solidFill>
              <a:effectLst/>
              <a:uFillTx/>
              <a:latin typeface="Arial"/>
            </a:endParaRPr>
          </a:p>
        </p:txBody>
      </p:sp>
      <p:sp>
        <p:nvSpPr>
          <p:cNvPr id="166" name="TextBox 16"/>
          <p:cNvSpPr/>
          <p:nvPr/>
        </p:nvSpPr>
        <p:spPr>
          <a:xfrm>
            <a:off x="8001000" y="4251960"/>
            <a:ext cx="2925720" cy="383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600" b="1" u="none" strike="noStrike">
                <a:solidFill>
                  <a:srgbClr val="f2f7ff"/>
                </a:solidFill>
                <a:effectLst/>
                <a:uFillTx/>
                <a:latin typeface="Aptos"/>
              </a:rPr>
              <a:t>Muestra un mensaje</a:t>
            </a:r>
            <a:endParaRPr lang="es-CO"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d1d"/>
        </a:solidFill>
      </p:bgPr>
    </p:bg>
    <p:spTree>
      <p:nvGrpSpPr>
        <p:cNvPr id="1" name=""/>
        <p:cNvGrpSpPr/>
        <p:nvPr/>
      </p:nvGrpSpPr>
      <p:grpSpPr>
        <a:xfrm>
          <a:off x="0" y="0"/>
          <a:ext cx="0" cy="0"/>
          <a:chOff x="0" y="0"/>
          <a:chExt cx="0" cy="0"/>
        </a:xfrm>
      </p:grpSpPr>
      <p:sp>
        <p:nvSpPr>
          <p:cNvPr id="167" name="Oval 1"/>
          <p:cNvSpPr/>
          <p:nvPr/>
        </p:nvSpPr>
        <p:spPr>
          <a:xfrm>
            <a:off x="10607040" y="-548640"/>
            <a:ext cx="2377080" cy="2377080"/>
          </a:xfrm>
          <a:prstGeom prst="ellipse">
            <a:avLst/>
          </a:prstGeom>
          <a:solidFill>
            <a:srgbClr val="498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68" name="Oval 2"/>
          <p:cNvSpPr/>
          <p:nvPr/>
        </p:nvSpPr>
        <p:spPr>
          <a:xfrm>
            <a:off x="-822960" y="5394960"/>
            <a:ext cx="1828440" cy="1828440"/>
          </a:xfrm>
          <a:prstGeom prst="ellipse">
            <a:avLst/>
          </a:prstGeom>
          <a:solidFill>
            <a:srgbClr val="9b6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69" name="Oval 3"/>
          <p:cNvSpPr/>
          <p:nvPr/>
        </p:nvSpPr>
        <p:spPr>
          <a:xfrm>
            <a:off x="9875520" y="5852160"/>
            <a:ext cx="1096920" cy="1096920"/>
          </a:xfrm>
          <a:prstGeom prst="ellipse">
            <a:avLst/>
          </a:prstGeom>
          <a:solidFill>
            <a:srgbClr val="2bdc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70" name="TextBox 4"/>
          <p:cNvSpPr/>
          <p:nvPr/>
        </p:nvSpPr>
        <p:spPr>
          <a:xfrm>
            <a:off x="640080" y="384120"/>
            <a:ext cx="7772040" cy="2923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100" b="1" u="none" strike="noStrike">
                <a:solidFill>
                  <a:srgbClr val="2bdceb"/>
                </a:solidFill>
                <a:effectLst/>
                <a:uFillTx/>
                <a:latin typeface="Aptos"/>
              </a:rPr>
              <a:t>06 · DEMOSTRACIÓN</a:t>
            </a:r>
            <a:endParaRPr lang="es-CO" sz="1100" b="0" u="none" strike="noStrike">
              <a:solidFill>
                <a:srgbClr val="ffffff"/>
              </a:solidFill>
              <a:effectLst/>
              <a:uFillTx/>
              <a:latin typeface="Arial"/>
            </a:endParaRPr>
          </a:p>
        </p:txBody>
      </p:sp>
      <p:sp>
        <p:nvSpPr>
          <p:cNvPr id="171" name="TextBox 5"/>
          <p:cNvSpPr/>
          <p:nvPr/>
        </p:nvSpPr>
        <p:spPr>
          <a:xfrm>
            <a:off x="640080" y="749880"/>
            <a:ext cx="10789560" cy="6213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3000" b="1" u="none" strike="noStrike">
                <a:solidFill>
                  <a:srgbClr val="f2f7ff"/>
                </a:solidFill>
                <a:effectLst/>
                <a:uFillTx/>
                <a:latin typeface="Aptos"/>
              </a:rPr>
              <a:t>Del botón al mapa</a:t>
            </a:r>
            <a:endParaRPr lang="es-CO" sz="3000" b="0" u="none" strike="noStrike">
              <a:solidFill>
                <a:srgbClr val="ffffff"/>
              </a:solidFill>
              <a:effectLst/>
              <a:uFillTx/>
              <a:latin typeface="Arial"/>
            </a:endParaRPr>
          </a:p>
        </p:txBody>
      </p:sp>
      <p:sp>
        <p:nvSpPr>
          <p:cNvPr id="172" name="TextBox 7"/>
          <p:cNvSpPr/>
          <p:nvPr/>
        </p:nvSpPr>
        <p:spPr>
          <a:xfrm>
            <a:off x="11064240" y="6446520"/>
            <a:ext cx="502560" cy="2282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lang="en-US" sz="1000" b="1" u="none" strike="noStrike">
                <a:solidFill>
                  <a:srgbClr val="a6b7d3"/>
                </a:solidFill>
                <a:effectLst/>
                <a:uFillTx/>
                <a:latin typeface="Aptos"/>
              </a:rPr>
              <a:t>07/10</a:t>
            </a:r>
            <a:endParaRPr lang="es-CO" sz="1000" b="0" u="none" strike="noStrike">
              <a:solidFill>
                <a:srgbClr val="ffffff"/>
              </a:solidFill>
              <a:effectLst/>
              <a:uFillTx/>
              <a:latin typeface="Arial"/>
            </a:endParaRPr>
          </a:p>
        </p:txBody>
      </p:sp>
      <p:sp>
        <p:nvSpPr>
          <p:cNvPr id="173" name="Rounded Rectangle 8"/>
          <p:cNvSpPr/>
          <p:nvPr/>
        </p:nvSpPr>
        <p:spPr>
          <a:xfrm>
            <a:off x="777240" y="2057400"/>
            <a:ext cx="5074560" cy="1234080"/>
          </a:xfrm>
          <a:prstGeom prst="roundRect">
            <a:avLst>
              <a:gd name="adj" fmla="val 16667"/>
            </a:avLst>
          </a:prstGeom>
          <a:solidFill>
            <a:srgbClr val="162442"/>
          </a:solidFill>
          <a:ln w="12700">
            <a:solidFill>
              <a:srgbClr val="2bdc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74" name="TextBox 9"/>
          <p:cNvSpPr/>
          <p:nvPr/>
        </p:nvSpPr>
        <p:spPr>
          <a:xfrm>
            <a:off x="960120" y="2313360"/>
            <a:ext cx="50256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2500" b="1" u="none" strike="noStrike">
                <a:solidFill>
                  <a:srgbClr val="2bdceb"/>
                </a:solidFill>
                <a:effectLst/>
                <a:uFillTx/>
                <a:latin typeface="Aptos"/>
              </a:rPr>
              <a:t>1</a:t>
            </a:r>
            <a:endParaRPr lang="es-CO" sz="2500" b="0" u="none" strike="noStrike">
              <a:solidFill>
                <a:srgbClr val="ffffff"/>
              </a:solidFill>
              <a:effectLst/>
              <a:uFillTx/>
              <a:latin typeface="Arial"/>
            </a:endParaRPr>
          </a:p>
        </p:txBody>
      </p:sp>
      <p:sp>
        <p:nvSpPr>
          <p:cNvPr id="175" name="TextBox 10"/>
          <p:cNvSpPr/>
          <p:nvPr/>
        </p:nvSpPr>
        <p:spPr>
          <a:xfrm>
            <a:off x="1600200" y="2221920"/>
            <a:ext cx="3840120" cy="383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800" b="1" u="none" strike="noStrike">
                <a:solidFill>
                  <a:srgbClr val="f2f7ff"/>
                </a:solidFill>
                <a:effectLst/>
                <a:uFillTx/>
                <a:latin typeface="Aptos"/>
              </a:rPr>
              <a:t>Abrir la página</a:t>
            </a:r>
            <a:endParaRPr lang="es-CO" sz="1800" b="0" u="none" strike="noStrike">
              <a:solidFill>
                <a:srgbClr val="ffffff"/>
              </a:solidFill>
              <a:effectLst/>
              <a:uFillTx/>
              <a:latin typeface="Arial"/>
            </a:endParaRPr>
          </a:p>
        </p:txBody>
      </p:sp>
      <p:sp>
        <p:nvSpPr>
          <p:cNvPr id="176" name="TextBox 11"/>
          <p:cNvSpPr/>
          <p:nvPr/>
        </p:nvSpPr>
        <p:spPr>
          <a:xfrm>
            <a:off x="1600200" y="2679120"/>
            <a:ext cx="3840120" cy="3470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300" b="0" u="none" strike="noStrike">
                <a:solidFill>
                  <a:srgbClr val="a6b7d3"/>
                </a:solidFill>
                <a:effectLst/>
                <a:uFillTx/>
                <a:latin typeface="Aptos"/>
              </a:rPr>
              <a:t>Mostrar el botón</a:t>
            </a:r>
            <a:endParaRPr lang="es-CO" sz="1300" b="0" u="none" strike="noStrike">
              <a:solidFill>
                <a:srgbClr val="ffffff"/>
              </a:solidFill>
              <a:effectLst/>
              <a:uFillTx/>
              <a:latin typeface="Arial"/>
            </a:endParaRPr>
          </a:p>
        </p:txBody>
      </p:sp>
      <p:sp>
        <p:nvSpPr>
          <p:cNvPr id="177" name="Rounded Rectangle 12"/>
          <p:cNvSpPr/>
          <p:nvPr/>
        </p:nvSpPr>
        <p:spPr>
          <a:xfrm>
            <a:off x="6400800" y="2057400"/>
            <a:ext cx="5074560" cy="1234080"/>
          </a:xfrm>
          <a:prstGeom prst="roundRect">
            <a:avLst>
              <a:gd name="adj" fmla="val 16667"/>
            </a:avLst>
          </a:prstGeom>
          <a:solidFill>
            <a:srgbClr val="162442"/>
          </a:solidFill>
          <a:ln w="12700">
            <a:solidFill>
              <a:srgbClr val="498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78" name="TextBox 13"/>
          <p:cNvSpPr/>
          <p:nvPr/>
        </p:nvSpPr>
        <p:spPr>
          <a:xfrm>
            <a:off x="6583680" y="2313360"/>
            <a:ext cx="50256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2500" b="1" u="none" strike="noStrike">
                <a:solidFill>
                  <a:srgbClr val="4984ff"/>
                </a:solidFill>
                <a:effectLst/>
                <a:uFillTx/>
                <a:latin typeface="Aptos"/>
              </a:rPr>
              <a:t>2</a:t>
            </a:r>
            <a:endParaRPr lang="es-CO" sz="2500" b="0" u="none" strike="noStrike">
              <a:solidFill>
                <a:srgbClr val="ffffff"/>
              </a:solidFill>
              <a:effectLst/>
              <a:uFillTx/>
              <a:latin typeface="Arial"/>
            </a:endParaRPr>
          </a:p>
        </p:txBody>
      </p:sp>
      <p:sp>
        <p:nvSpPr>
          <p:cNvPr id="179" name="TextBox 14"/>
          <p:cNvSpPr/>
          <p:nvPr/>
        </p:nvSpPr>
        <p:spPr>
          <a:xfrm>
            <a:off x="7223760" y="2221920"/>
            <a:ext cx="3840120" cy="383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800" b="1" u="none" strike="noStrike">
                <a:solidFill>
                  <a:srgbClr val="f2f7ff"/>
                </a:solidFill>
                <a:effectLst/>
                <a:uFillTx/>
                <a:latin typeface="Aptos"/>
              </a:rPr>
              <a:t>Autorizar permiso</a:t>
            </a:r>
            <a:endParaRPr lang="es-CO" sz="1800" b="0" u="none" strike="noStrike">
              <a:solidFill>
                <a:srgbClr val="ffffff"/>
              </a:solidFill>
              <a:effectLst/>
              <a:uFillTx/>
              <a:latin typeface="Arial"/>
            </a:endParaRPr>
          </a:p>
        </p:txBody>
      </p:sp>
      <p:sp>
        <p:nvSpPr>
          <p:cNvPr id="180" name="TextBox 15"/>
          <p:cNvSpPr/>
          <p:nvPr/>
        </p:nvSpPr>
        <p:spPr>
          <a:xfrm>
            <a:off x="7223760" y="2679120"/>
            <a:ext cx="3840120" cy="3470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300" b="0" u="none" strike="noStrike">
                <a:solidFill>
                  <a:srgbClr val="a6b7d3"/>
                </a:solidFill>
                <a:effectLst/>
                <a:uFillTx/>
                <a:latin typeface="Aptos"/>
              </a:rPr>
              <a:t>El navegador pregunta</a:t>
            </a:r>
            <a:endParaRPr lang="es-CO" sz="1300" b="0" u="none" strike="noStrike">
              <a:solidFill>
                <a:srgbClr val="ffffff"/>
              </a:solidFill>
              <a:effectLst/>
              <a:uFillTx/>
              <a:latin typeface="Arial"/>
            </a:endParaRPr>
          </a:p>
        </p:txBody>
      </p:sp>
      <p:sp>
        <p:nvSpPr>
          <p:cNvPr id="181" name="Rounded Rectangle 16"/>
          <p:cNvSpPr/>
          <p:nvPr/>
        </p:nvSpPr>
        <p:spPr>
          <a:xfrm>
            <a:off x="777240" y="3657600"/>
            <a:ext cx="5074560" cy="1234080"/>
          </a:xfrm>
          <a:prstGeom prst="roundRect">
            <a:avLst>
              <a:gd name="adj" fmla="val 16667"/>
            </a:avLst>
          </a:prstGeom>
          <a:solidFill>
            <a:srgbClr val="162442"/>
          </a:solidFill>
          <a:ln w="12700">
            <a:solidFill>
              <a:srgbClr val="40de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82" name="TextBox 17"/>
          <p:cNvSpPr/>
          <p:nvPr/>
        </p:nvSpPr>
        <p:spPr>
          <a:xfrm>
            <a:off x="960120" y="3913560"/>
            <a:ext cx="50256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2500" b="1" u="none" strike="noStrike">
                <a:solidFill>
                  <a:srgbClr val="40dea0"/>
                </a:solidFill>
                <a:effectLst/>
                <a:uFillTx/>
                <a:latin typeface="Aptos"/>
              </a:rPr>
              <a:t>3</a:t>
            </a:r>
            <a:endParaRPr lang="es-CO" sz="2500" b="0" u="none" strike="noStrike">
              <a:solidFill>
                <a:srgbClr val="ffffff"/>
              </a:solidFill>
              <a:effectLst/>
              <a:uFillTx/>
              <a:latin typeface="Arial"/>
            </a:endParaRPr>
          </a:p>
        </p:txBody>
      </p:sp>
      <p:sp>
        <p:nvSpPr>
          <p:cNvPr id="183" name="TextBox 18"/>
          <p:cNvSpPr/>
          <p:nvPr/>
        </p:nvSpPr>
        <p:spPr>
          <a:xfrm>
            <a:off x="1600200" y="3822120"/>
            <a:ext cx="3840120" cy="383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800" b="1" u="none" strike="noStrike">
                <a:solidFill>
                  <a:srgbClr val="f2f7ff"/>
                </a:solidFill>
                <a:effectLst/>
                <a:uFillTx/>
                <a:latin typeface="Aptos"/>
              </a:rPr>
              <a:t>Leer resultados</a:t>
            </a:r>
            <a:endParaRPr lang="es-CO" sz="1800" b="0" u="none" strike="noStrike">
              <a:solidFill>
                <a:srgbClr val="ffffff"/>
              </a:solidFill>
              <a:effectLst/>
              <a:uFillTx/>
              <a:latin typeface="Arial"/>
            </a:endParaRPr>
          </a:p>
        </p:txBody>
      </p:sp>
      <p:sp>
        <p:nvSpPr>
          <p:cNvPr id="184" name="TextBox 19"/>
          <p:cNvSpPr/>
          <p:nvPr/>
        </p:nvSpPr>
        <p:spPr>
          <a:xfrm>
            <a:off x="1600200" y="4279320"/>
            <a:ext cx="3840120" cy="3470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300" b="0" u="none" strike="noStrike">
                <a:solidFill>
                  <a:srgbClr val="a6b7d3"/>
                </a:solidFill>
                <a:effectLst/>
                <a:uFillTx/>
                <a:latin typeface="Aptos"/>
              </a:rPr>
              <a:t>Latitud, longitud y precisión</a:t>
            </a:r>
            <a:endParaRPr lang="es-CO" sz="1300" b="0" u="none" strike="noStrike">
              <a:solidFill>
                <a:srgbClr val="ffffff"/>
              </a:solidFill>
              <a:effectLst/>
              <a:uFillTx/>
              <a:latin typeface="Arial"/>
            </a:endParaRPr>
          </a:p>
        </p:txBody>
      </p:sp>
      <p:sp>
        <p:nvSpPr>
          <p:cNvPr id="185" name="Rounded Rectangle 20"/>
          <p:cNvSpPr/>
          <p:nvPr/>
        </p:nvSpPr>
        <p:spPr>
          <a:xfrm>
            <a:off x="6400800" y="3657600"/>
            <a:ext cx="5074560" cy="1234080"/>
          </a:xfrm>
          <a:prstGeom prst="roundRect">
            <a:avLst>
              <a:gd name="adj" fmla="val 16667"/>
            </a:avLst>
          </a:prstGeom>
          <a:solidFill>
            <a:srgbClr val="162442"/>
          </a:solidFill>
          <a:ln w="12700">
            <a:solidFill>
              <a:srgbClr val="9b6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86" name="TextBox 21"/>
          <p:cNvSpPr/>
          <p:nvPr/>
        </p:nvSpPr>
        <p:spPr>
          <a:xfrm>
            <a:off x="6583680" y="3913560"/>
            <a:ext cx="50256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2500" b="1" u="none" strike="noStrike">
                <a:solidFill>
                  <a:srgbClr val="9b64ff"/>
                </a:solidFill>
                <a:effectLst/>
                <a:uFillTx/>
                <a:latin typeface="Aptos"/>
              </a:rPr>
              <a:t>4</a:t>
            </a:r>
            <a:endParaRPr lang="es-CO" sz="2500" b="0" u="none" strike="noStrike">
              <a:solidFill>
                <a:srgbClr val="ffffff"/>
              </a:solidFill>
              <a:effectLst/>
              <a:uFillTx/>
              <a:latin typeface="Arial"/>
            </a:endParaRPr>
          </a:p>
        </p:txBody>
      </p:sp>
      <p:sp>
        <p:nvSpPr>
          <p:cNvPr id="187" name="TextBox 22"/>
          <p:cNvSpPr/>
          <p:nvPr/>
        </p:nvSpPr>
        <p:spPr>
          <a:xfrm>
            <a:off x="7223760" y="3822120"/>
            <a:ext cx="3840120" cy="383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800" b="1" u="none" strike="noStrike">
                <a:solidFill>
                  <a:srgbClr val="f2f7ff"/>
                </a:solidFill>
                <a:effectLst/>
                <a:uFillTx/>
                <a:latin typeface="Aptos"/>
              </a:rPr>
              <a:t>Abrir el mapa</a:t>
            </a:r>
            <a:endParaRPr lang="es-CO" sz="1800" b="0" u="none" strike="noStrike">
              <a:solidFill>
                <a:srgbClr val="ffffff"/>
              </a:solidFill>
              <a:effectLst/>
              <a:uFillTx/>
              <a:latin typeface="Arial"/>
            </a:endParaRPr>
          </a:p>
        </p:txBody>
      </p:sp>
      <p:sp>
        <p:nvSpPr>
          <p:cNvPr id="188" name="TextBox 23"/>
          <p:cNvSpPr/>
          <p:nvPr/>
        </p:nvSpPr>
        <p:spPr>
          <a:xfrm>
            <a:off x="7223760" y="4279320"/>
            <a:ext cx="3840120" cy="3470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300" b="0" u="none" strike="noStrike">
                <a:solidFill>
                  <a:srgbClr val="a6b7d3"/>
                </a:solidFill>
                <a:effectLst/>
                <a:uFillTx/>
                <a:latin typeface="Aptos"/>
              </a:rPr>
              <a:t>Enlace con las coordenadas</a:t>
            </a:r>
            <a:endParaRPr lang="es-CO" sz="1300" b="0" u="none" strike="noStrike">
              <a:solidFill>
                <a:srgbClr val="ffffff"/>
              </a:solidFill>
              <a:effectLst/>
              <a:uFillTx/>
              <a:latin typeface="Arial"/>
            </a:endParaRPr>
          </a:p>
        </p:txBody>
      </p:sp>
      <p:sp>
        <p:nvSpPr>
          <p:cNvPr id="189" name="Rounded Rectangle 24"/>
          <p:cNvSpPr/>
          <p:nvPr/>
        </p:nvSpPr>
        <p:spPr>
          <a:xfrm>
            <a:off x="914400" y="5486400"/>
            <a:ext cx="10240920" cy="438480"/>
          </a:xfrm>
          <a:prstGeom prst="roundRect">
            <a:avLst>
              <a:gd name="adj" fmla="val 16667"/>
            </a:avLst>
          </a:prstGeom>
          <a:solidFill>
            <a:srgbClr val="20182c"/>
          </a:solidFill>
          <a:ln w="12700">
            <a:solidFill>
              <a:srgbClr val="ffae5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90" name="TextBox 25"/>
          <p:cNvSpPr/>
          <p:nvPr/>
        </p:nvSpPr>
        <p:spPr>
          <a:xfrm>
            <a:off x="1097280" y="5559480"/>
            <a:ext cx="9875160" cy="228240"/>
          </a:xfrm>
          <a:prstGeom prst="rect">
            <a:avLst/>
          </a:prstGeom>
          <a:noFill/>
          <a:ln w="0">
            <a:noFill/>
          </a:ln>
        </p:spPr>
        <p:style>
          <a:lnRef idx="0"/>
          <a:fillRef idx="0"/>
          <a:effectRef idx="0"/>
          <a:fontRef idx="minor"/>
        </p:style>
        <p:txBody>
          <a:bodyPr lIns="36720" rIns="36720" tIns="36720" bIns="36720" anchor="t">
            <a:spAutoFit/>
          </a:bodyPr>
          <a:p>
            <a:pPr algn="ctr" defTabSz="457200">
              <a:lnSpc>
                <a:spcPct val="100000"/>
              </a:lnSpc>
            </a:pPr>
            <a:r>
              <a:rPr lang="en-US" sz="1200" b="1" u="none" strike="noStrike">
                <a:solidFill>
                  <a:srgbClr val="ffae52"/>
                </a:solidFill>
                <a:effectLst/>
                <a:uFillTx/>
                <a:latin typeface="Aptos"/>
              </a:rPr>
              <a:t>Si falla: revisa permiso, conexión y uso de HTTPS o localhost.</a:t>
            </a:r>
            <a:endParaRPr lang="es-CO"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d1d"/>
        </a:solidFill>
      </p:bgPr>
    </p:bg>
    <p:spTree>
      <p:nvGrpSpPr>
        <p:cNvPr id="1" name=""/>
        <p:cNvGrpSpPr/>
        <p:nvPr/>
      </p:nvGrpSpPr>
      <p:grpSpPr>
        <a:xfrm>
          <a:off x="0" y="0"/>
          <a:ext cx="0" cy="0"/>
          <a:chOff x="0" y="0"/>
          <a:chExt cx="0" cy="0"/>
        </a:xfrm>
      </p:grpSpPr>
      <p:sp>
        <p:nvSpPr>
          <p:cNvPr id="191" name="Oval 1"/>
          <p:cNvSpPr/>
          <p:nvPr/>
        </p:nvSpPr>
        <p:spPr>
          <a:xfrm>
            <a:off x="10607040" y="-548640"/>
            <a:ext cx="2377080" cy="2377080"/>
          </a:xfrm>
          <a:prstGeom prst="ellipse">
            <a:avLst/>
          </a:prstGeom>
          <a:solidFill>
            <a:srgbClr val="498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92" name="Oval 2"/>
          <p:cNvSpPr/>
          <p:nvPr/>
        </p:nvSpPr>
        <p:spPr>
          <a:xfrm>
            <a:off x="-822960" y="5394960"/>
            <a:ext cx="1828440" cy="1828440"/>
          </a:xfrm>
          <a:prstGeom prst="ellipse">
            <a:avLst/>
          </a:prstGeom>
          <a:solidFill>
            <a:srgbClr val="9b6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93" name="Oval 3"/>
          <p:cNvSpPr/>
          <p:nvPr/>
        </p:nvSpPr>
        <p:spPr>
          <a:xfrm>
            <a:off x="9875520" y="5852160"/>
            <a:ext cx="1096920" cy="1096920"/>
          </a:xfrm>
          <a:prstGeom prst="ellipse">
            <a:avLst/>
          </a:prstGeom>
          <a:solidFill>
            <a:srgbClr val="2bdc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94" name="TextBox 4"/>
          <p:cNvSpPr/>
          <p:nvPr/>
        </p:nvSpPr>
        <p:spPr>
          <a:xfrm>
            <a:off x="640080" y="384120"/>
            <a:ext cx="7772040" cy="2923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100" b="1" u="none" strike="noStrike">
                <a:solidFill>
                  <a:srgbClr val="2bdceb"/>
                </a:solidFill>
                <a:effectLst/>
                <a:uFillTx/>
                <a:latin typeface="Aptos"/>
              </a:rPr>
              <a:t>07 · SEGURIDAD Y LÍMITES</a:t>
            </a:r>
            <a:endParaRPr lang="es-CO" sz="1100" b="0" u="none" strike="noStrike">
              <a:solidFill>
                <a:srgbClr val="ffffff"/>
              </a:solidFill>
              <a:effectLst/>
              <a:uFillTx/>
              <a:latin typeface="Arial"/>
            </a:endParaRPr>
          </a:p>
        </p:txBody>
      </p:sp>
      <p:sp>
        <p:nvSpPr>
          <p:cNvPr id="195" name="TextBox 5"/>
          <p:cNvSpPr/>
          <p:nvPr/>
        </p:nvSpPr>
        <p:spPr>
          <a:xfrm>
            <a:off x="640080" y="749880"/>
            <a:ext cx="10789560" cy="6213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3000" b="1" u="none" strike="noStrike">
                <a:solidFill>
                  <a:srgbClr val="f2f7ff"/>
                </a:solidFill>
                <a:effectLst/>
                <a:uFillTx/>
                <a:latin typeface="Aptos"/>
              </a:rPr>
              <a:t>No siempre es exacta ni siempre está disponible</a:t>
            </a:r>
            <a:endParaRPr lang="es-CO" sz="3000" b="0" u="none" strike="noStrike">
              <a:solidFill>
                <a:srgbClr val="ffffff"/>
              </a:solidFill>
              <a:effectLst/>
              <a:uFillTx/>
              <a:latin typeface="Arial"/>
            </a:endParaRPr>
          </a:p>
        </p:txBody>
      </p:sp>
      <p:sp>
        <p:nvSpPr>
          <p:cNvPr id="196" name="TextBox 6"/>
          <p:cNvSpPr/>
          <p:nvPr/>
        </p:nvSpPr>
        <p:spPr>
          <a:xfrm>
            <a:off x="676800" y="1398960"/>
            <a:ext cx="10515240" cy="4384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400" b="0" u="none" strike="noStrike">
                <a:solidFill>
                  <a:srgbClr val="a6b7d3"/>
                </a:solidFill>
                <a:effectLst/>
                <a:uFillTx/>
                <a:latin typeface="Aptos"/>
              </a:rPr>
              <a:t>Una aplicación responsable anticipa los casos en que la ubicación falla.</a:t>
            </a:r>
            <a:endParaRPr lang="es-CO" sz="1400" b="0" u="none" strike="noStrike">
              <a:solidFill>
                <a:srgbClr val="ffffff"/>
              </a:solidFill>
              <a:effectLst/>
              <a:uFillTx/>
              <a:latin typeface="Arial"/>
            </a:endParaRPr>
          </a:p>
        </p:txBody>
      </p:sp>
      <p:sp>
        <p:nvSpPr>
          <p:cNvPr id="197" name="TextBox 7"/>
          <p:cNvSpPr/>
          <p:nvPr/>
        </p:nvSpPr>
        <p:spPr>
          <a:xfrm>
            <a:off x="11064240" y="6446520"/>
            <a:ext cx="502560" cy="2282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lang="en-US" sz="1000" b="1" u="none" strike="noStrike">
                <a:solidFill>
                  <a:srgbClr val="a6b7d3"/>
                </a:solidFill>
                <a:effectLst/>
                <a:uFillTx/>
                <a:latin typeface="Aptos"/>
              </a:rPr>
              <a:t>08/10</a:t>
            </a:r>
            <a:endParaRPr lang="es-CO" sz="1000" b="0" u="none" strike="noStrike">
              <a:solidFill>
                <a:srgbClr val="ffffff"/>
              </a:solidFill>
              <a:effectLst/>
              <a:uFillTx/>
              <a:latin typeface="Arial"/>
            </a:endParaRPr>
          </a:p>
        </p:txBody>
      </p:sp>
      <p:sp>
        <p:nvSpPr>
          <p:cNvPr id="198" name="Rounded Rectangle 8"/>
          <p:cNvSpPr/>
          <p:nvPr/>
        </p:nvSpPr>
        <p:spPr>
          <a:xfrm>
            <a:off x="777240" y="2057400"/>
            <a:ext cx="5074560" cy="1234080"/>
          </a:xfrm>
          <a:prstGeom prst="roundRect">
            <a:avLst>
              <a:gd name="adj" fmla="val 16667"/>
            </a:avLst>
          </a:prstGeom>
          <a:solidFill>
            <a:srgbClr val="162442"/>
          </a:solidFill>
          <a:ln w="12700">
            <a:solidFill>
              <a:srgbClr val="2bdc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99" name="TextBox 9"/>
          <p:cNvSpPr/>
          <p:nvPr/>
        </p:nvSpPr>
        <p:spPr>
          <a:xfrm>
            <a:off x="978480" y="2240280"/>
            <a:ext cx="4480200" cy="2923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200" b="1" u="none" strike="noStrike">
                <a:solidFill>
                  <a:srgbClr val="2bdceb"/>
                </a:solidFill>
                <a:effectLst/>
                <a:uFillTx/>
                <a:latin typeface="Aptos"/>
              </a:rPr>
              <a:t>PERMISO</a:t>
            </a:r>
            <a:endParaRPr lang="es-CO" sz="1200" b="0" u="none" strike="noStrike">
              <a:solidFill>
                <a:srgbClr val="ffffff"/>
              </a:solidFill>
              <a:effectLst/>
              <a:uFillTx/>
              <a:latin typeface="Arial"/>
            </a:endParaRPr>
          </a:p>
        </p:txBody>
      </p:sp>
      <p:sp>
        <p:nvSpPr>
          <p:cNvPr id="200" name="TextBox 10"/>
          <p:cNvSpPr/>
          <p:nvPr/>
        </p:nvSpPr>
        <p:spPr>
          <a:xfrm>
            <a:off x="978480" y="2624400"/>
            <a:ext cx="4525920" cy="4384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600" b="1" u="none" strike="noStrike">
                <a:solidFill>
                  <a:srgbClr val="f2f7ff"/>
                </a:solidFill>
                <a:effectLst/>
                <a:uFillTx/>
                <a:latin typeface="Aptos"/>
              </a:rPr>
              <a:t>El usuario puede aceptar o rechazar.</a:t>
            </a:r>
            <a:endParaRPr lang="es-CO" sz="1600" b="0" u="none" strike="noStrike">
              <a:solidFill>
                <a:srgbClr val="ffffff"/>
              </a:solidFill>
              <a:effectLst/>
              <a:uFillTx/>
              <a:latin typeface="Arial"/>
            </a:endParaRPr>
          </a:p>
        </p:txBody>
      </p:sp>
      <p:sp>
        <p:nvSpPr>
          <p:cNvPr id="201" name="Rounded Rectangle 11"/>
          <p:cNvSpPr/>
          <p:nvPr/>
        </p:nvSpPr>
        <p:spPr>
          <a:xfrm>
            <a:off x="6400800" y="2057400"/>
            <a:ext cx="5074560" cy="1234080"/>
          </a:xfrm>
          <a:prstGeom prst="roundRect">
            <a:avLst>
              <a:gd name="adj" fmla="val 16667"/>
            </a:avLst>
          </a:prstGeom>
          <a:solidFill>
            <a:srgbClr val="162442"/>
          </a:solidFill>
          <a:ln w="12700">
            <a:solidFill>
              <a:srgbClr val="498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02" name="TextBox 12"/>
          <p:cNvSpPr/>
          <p:nvPr/>
        </p:nvSpPr>
        <p:spPr>
          <a:xfrm>
            <a:off x="6602040" y="2240280"/>
            <a:ext cx="4480200" cy="2923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200" b="1" u="none" strike="noStrike">
                <a:solidFill>
                  <a:srgbClr val="4984ff"/>
                </a:solidFill>
                <a:effectLst/>
                <a:uFillTx/>
                <a:latin typeface="Aptos"/>
              </a:rPr>
              <a:t>CONTEXTO SEGURO</a:t>
            </a:r>
            <a:endParaRPr lang="es-CO" sz="1200" b="0" u="none" strike="noStrike">
              <a:solidFill>
                <a:srgbClr val="ffffff"/>
              </a:solidFill>
              <a:effectLst/>
              <a:uFillTx/>
              <a:latin typeface="Arial"/>
            </a:endParaRPr>
          </a:p>
        </p:txBody>
      </p:sp>
      <p:sp>
        <p:nvSpPr>
          <p:cNvPr id="203" name="TextBox 13"/>
          <p:cNvSpPr/>
          <p:nvPr/>
        </p:nvSpPr>
        <p:spPr>
          <a:xfrm>
            <a:off x="6602040" y="2624400"/>
            <a:ext cx="4525920" cy="4384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600" b="1" u="none" strike="noStrike">
                <a:solidFill>
                  <a:srgbClr val="f2f7ff"/>
                </a:solidFill>
                <a:effectLst/>
                <a:uFillTx/>
                <a:latin typeface="Aptos"/>
              </a:rPr>
              <a:t>Normalmente HTTPS o localhost.</a:t>
            </a:r>
            <a:endParaRPr lang="es-CO" sz="1600" b="0" u="none" strike="noStrike">
              <a:solidFill>
                <a:srgbClr val="ffffff"/>
              </a:solidFill>
              <a:effectLst/>
              <a:uFillTx/>
              <a:latin typeface="Arial"/>
            </a:endParaRPr>
          </a:p>
        </p:txBody>
      </p:sp>
      <p:sp>
        <p:nvSpPr>
          <p:cNvPr id="204" name="Rounded Rectangle 14"/>
          <p:cNvSpPr/>
          <p:nvPr/>
        </p:nvSpPr>
        <p:spPr>
          <a:xfrm>
            <a:off x="777240" y="3657600"/>
            <a:ext cx="5074560" cy="1234080"/>
          </a:xfrm>
          <a:prstGeom prst="roundRect">
            <a:avLst>
              <a:gd name="adj" fmla="val 16667"/>
            </a:avLst>
          </a:prstGeom>
          <a:solidFill>
            <a:srgbClr val="162442"/>
          </a:solidFill>
          <a:ln w="12700">
            <a:solidFill>
              <a:srgbClr val="40de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05" name="TextBox 15"/>
          <p:cNvSpPr/>
          <p:nvPr/>
        </p:nvSpPr>
        <p:spPr>
          <a:xfrm>
            <a:off x="978480" y="3840480"/>
            <a:ext cx="4480200" cy="2923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200" b="1" u="none" strike="noStrike">
                <a:solidFill>
                  <a:srgbClr val="40dea0"/>
                </a:solidFill>
                <a:effectLst/>
                <a:uFillTx/>
                <a:latin typeface="Aptos"/>
              </a:rPr>
              <a:t>PRECISIÓN</a:t>
            </a:r>
            <a:endParaRPr lang="es-CO" sz="1200" b="0" u="none" strike="noStrike">
              <a:solidFill>
                <a:srgbClr val="ffffff"/>
              </a:solidFill>
              <a:effectLst/>
              <a:uFillTx/>
              <a:latin typeface="Arial"/>
            </a:endParaRPr>
          </a:p>
        </p:txBody>
      </p:sp>
      <p:sp>
        <p:nvSpPr>
          <p:cNvPr id="206" name="TextBox 16"/>
          <p:cNvSpPr/>
          <p:nvPr/>
        </p:nvSpPr>
        <p:spPr>
          <a:xfrm>
            <a:off x="978480" y="4224600"/>
            <a:ext cx="4525920" cy="4384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600" b="1" u="none" strike="noStrike">
                <a:solidFill>
                  <a:srgbClr val="f2f7ff"/>
                </a:solidFill>
                <a:effectLst/>
                <a:uFillTx/>
                <a:latin typeface="Aptos"/>
              </a:rPr>
              <a:t>GPS, Wi-Fi, red y entorno influyen.</a:t>
            </a:r>
            <a:endParaRPr lang="es-CO" sz="1600" b="0" u="none" strike="noStrike">
              <a:solidFill>
                <a:srgbClr val="ffffff"/>
              </a:solidFill>
              <a:effectLst/>
              <a:uFillTx/>
              <a:latin typeface="Arial"/>
            </a:endParaRPr>
          </a:p>
        </p:txBody>
      </p:sp>
      <p:sp>
        <p:nvSpPr>
          <p:cNvPr id="207" name="Rounded Rectangle 17"/>
          <p:cNvSpPr/>
          <p:nvPr/>
        </p:nvSpPr>
        <p:spPr>
          <a:xfrm>
            <a:off x="6400800" y="3657600"/>
            <a:ext cx="5074560" cy="1234080"/>
          </a:xfrm>
          <a:prstGeom prst="roundRect">
            <a:avLst>
              <a:gd name="adj" fmla="val 16667"/>
            </a:avLst>
          </a:prstGeom>
          <a:solidFill>
            <a:srgbClr val="162442"/>
          </a:solidFill>
          <a:ln w="12700">
            <a:solidFill>
              <a:srgbClr val="ffae5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08" name="TextBox 18"/>
          <p:cNvSpPr/>
          <p:nvPr/>
        </p:nvSpPr>
        <p:spPr>
          <a:xfrm>
            <a:off x="6602040" y="3840480"/>
            <a:ext cx="4480200" cy="2923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200" b="1" u="none" strike="noStrike">
                <a:solidFill>
                  <a:srgbClr val="ffae52"/>
                </a:solidFill>
                <a:effectLst/>
                <a:uFillTx/>
                <a:latin typeface="Aptos"/>
              </a:rPr>
              <a:t>ERRORES</a:t>
            </a:r>
            <a:endParaRPr lang="es-CO" sz="1200" b="0" u="none" strike="noStrike">
              <a:solidFill>
                <a:srgbClr val="ffffff"/>
              </a:solidFill>
              <a:effectLst/>
              <a:uFillTx/>
              <a:latin typeface="Arial"/>
            </a:endParaRPr>
          </a:p>
        </p:txBody>
      </p:sp>
      <p:sp>
        <p:nvSpPr>
          <p:cNvPr id="209" name="TextBox 19"/>
          <p:cNvSpPr/>
          <p:nvPr/>
        </p:nvSpPr>
        <p:spPr>
          <a:xfrm>
            <a:off x="6602040" y="4224600"/>
            <a:ext cx="4525920" cy="4384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600" b="1" u="none" strike="noStrike">
                <a:solidFill>
                  <a:srgbClr val="f2f7ff"/>
                </a:solidFill>
                <a:effectLst/>
                <a:uFillTx/>
                <a:latin typeface="Aptos"/>
              </a:rPr>
              <a:t>Permiso denegado, posición no disponible o timeout.</a:t>
            </a:r>
            <a:endParaRPr lang="es-CO" sz="1600" b="0" u="none" strike="noStrike">
              <a:solidFill>
                <a:srgbClr val="ffffff"/>
              </a:solidFill>
              <a:effectLst/>
              <a:uFillTx/>
              <a:latin typeface="Arial"/>
            </a:endParaRPr>
          </a:p>
        </p:txBody>
      </p:sp>
      <p:sp>
        <p:nvSpPr>
          <p:cNvPr id="210" name="TextBox 20"/>
          <p:cNvSpPr/>
          <p:nvPr/>
        </p:nvSpPr>
        <p:spPr>
          <a:xfrm>
            <a:off x="914400" y="5532120"/>
            <a:ext cx="10149480" cy="383760"/>
          </a:xfrm>
          <a:prstGeom prst="rect">
            <a:avLst/>
          </a:prstGeom>
          <a:noFill/>
          <a:ln w="0">
            <a:noFill/>
          </a:ln>
        </p:spPr>
        <p:style>
          <a:lnRef idx="0"/>
          <a:fillRef idx="0"/>
          <a:effectRef idx="0"/>
          <a:fontRef idx="minor"/>
        </p:style>
        <p:txBody>
          <a:bodyPr lIns="36720" rIns="36720" tIns="36720" bIns="36720" anchor="t">
            <a:spAutoFit/>
          </a:bodyPr>
          <a:p>
            <a:pPr algn="ctr" defTabSz="457200">
              <a:lnSpc>
                <a:spcPct val="100000"/>
              </a:lnSpc>
            </a:pPr>
            <a:r>
              <a:rPr lang="en-US" sz="1600" b="1" u="none" strike="noStrike">
                <a:solidFill>
                  <a:srgbClr val="f2f7ff"/>
                </a:solidFill>
                <a:effectLst/>
                <a:uFillTx/>
                <a:latin typeface="Aptos"/>
              </a:rPr>
              <a:t>Privacidad: solicita solo los datos necesarios y explica para qué se usan.</a:t>
            </a:r>
            <a:endParaRPr lang="es-CO"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d1d"/>
        </a:solidFill>
      </p:bgPr>
    </p:bg>
    <p:spTree>
      <p:nvGrpSpPr>
        <p:cNvPr id="1" name=""/>
        <p:cNvGrpSpPr/>
        <p:nvPr/>
      </p:nvGrpSpPr>
      <p:grpSpPr>
        <a:xfrm>
          <a:off x="0" y="0"/>
          <a:ext cx="0" cy="0"/>
          <a:chOff x="0" y="0"/>
          <a:chExt cx="0" cy="0"/>
        </a:xfrm>
      </p:grpSpPr>
      <p:sp>
        <p:nvSpPr>
          <p:cNvPr id="211" name="Oval 1"/>
          <p:cNvSpPr/>
          <p:nvPr/>
        </p:nvSpPr>
        <p:spPr>
          <a:xfrm>
            <a:off x="10607040" y="-548640"/>
            <a:ext cx="2377080" cy="2377080"/>
          </a:xfrm>
          <a:prstGeom prst="ellipse">
            <a:avLst/>
          </a:prstGeom>
          <a:solidFill>
            <a:srgbClr val="498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12" name="Oval 2"/>
          <p:cNvSpPr/>
          <p:nvPr/>
        </p:nvSpPr>
        <p:spPr>
          <a:xfrm>
            <a:off x="-822960" y="5394960"/>
            <a:ext cx="1828440" cy="1828440"/>
          </a:xfrm>
          <a:prstGeom prst="ellipse">
            <a:avLst/>
          </a:prstGeom>
          <a:solidFill>
            <a:srgbClr val="9b6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13" name="Oval 3"/>
          <p:cNvSpPr/>
          <p:nvPr/>
        </p:nvSpPr>
        <p:spPr>
          <a:xfrm>
            <a:off x="9875520" y="5852160"/>
            <a:ext cx="1096920" cy="1096920"/>
          </a:xfrm>
          <a:prstGeom prst="ellipse">
            <a:avLst/>
          </a:prstGeom>
          <a:solidFill>
            <a:srgbClr val="2bdc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14" name="TextBox 4"/>
          <p:cNvSpPr/>
          <p:nvPr/>
        </p:nvSpPr>
        <p:spPr>
          <a:xfrm>
            <a:off x="640080" y="384120"/>
            <a:ext cx="7772040" cy="2923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100" b="1" u="none" strike="noStrike">
                <a:solidFill>
                  <a:srgbClr val="2bdceb"/>
                </a:solidFill>
                <a:effectLst/>
                <a:uFillTx/>
                <a:latin typeface="Aptos"/>
              </a:rPr>
              <a:t>08 · ACTIVIDAD</a:t>
            </a:r>
            <a:endParaRPr lang="es-CO" sz="1100" b="0" u="none" strike="noStrike">
              <a:solidFill>
                <a:srgbClr val="ffffff"/>
              </a:solidFill>
              <a:effectLst/>
              <a:uFillTx/>
              <a:latin typeface="Arial"/>
            </a:endParaRPr>
          </a:p>
        </p:txBody>
      </p:sp>
      <p:sp>
        <p:nvSpPr>
          <p:cNvPr id="215" name="TextBox 5"/>
          <p:cNvSpPr/>
          <p:nvPr/>
        </p:nvSpPr>
        <p:spPr>
          <a:xfrm>
            <a:off x="640080" y="749880"/>
            <a:ext cx="10789560" cy="6213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3000" b="1" u="none" strike="noStrike">
                <a:solidFill>
                  <a:srgbClr val="f2f7ff"/>
                </a:solidFill>
                <a:effectLst/>
                <a:uFillTx/>
                <a:latin typeface="Aptos"/>
              </a:rPr>
              <a:t>Reto: Mi ubicación</a:t>
            </a:r>
            <a:endParaRPr lang="es-CO" sz="3000" b="0" u="none" strike="noStrike">
              <a:solidFill>
                <a:srgbClr val="ffffff"/>
              </a:solidFill>
              <a:effectLst/>
              <a:uFillTx/>
              <a:latin typeface="Arial"/>
            </a:endParaRPr>
          </a:p>
        </p:txBody>
      </p:sp>
      <p:sp>
        <p:nvSpPr>
          <p:cNvPr id="216" name="TextBox 6"/>
          <p:cNvSpPr/>
          <p:nvPr/>
        </p:nvSpPr>
        <p:spPr>
          <a:xfrm>
            <a:off x="676800" y="1398960"/>
            <a:ext cx="10515240" cy="4384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400" b="0" u="none" strike="noStrike">
                <a:solidFill>
                  <a:srgbClr val="a6b7d3"/>
                </a:solidFill>
                <a:effectLst/>
                <a:uFillTx/>
                <a:latin typeface="Aptos"/>
              </a:rPr>
              <a:t>Cada compañero implementa la solución en su propio repositorio.</a:t>
            </a:r>
            <a:endParaRPr lang="es-CO" sz="1400" b="0" u="none" strike="noStrike">
              <a:solidFill>
                <a:srgbClr val="ffffff"/>
              </a:solidFill>
              <a:effectLst/>
              <a:uFillTx/>
              <a:latin typeface="Arial"/>
            </a:endParaRPr>
          </a:p>
        </p:txBody>
      </p:sp>
      <p:sp>
        <p:nvSpPr>
          <p:cNvPr id="217" name="TextBox 7"/>
          <p:cNvSpPr/>
          <p:nvPr/>
        </p:nvSpPr>
        <p:spPr>
          <a:xfrm>
            <a:off x="11064240" y="6446520"/>
            <a:ext cx="502560" cy="2282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lang="en-US" sz="1000" b="1" u="none" strike="noStrike">
                <a:solidFill>
                  <a:srgbClr val="a6b7d3"/>
                </a:solidFill>
                <a:effectLst/>
                <a:uFillTx/>
                <a:latin typeface="Aptos"/>
              </a:rPr>
              <a:t>09/10</a:t>
            </a:r>
            <a:endParaRPr lang="es-CO" sz="1000" b="0" u="none" strike="noStrike">
              <a:solidFill>
                <a:srgbClr val="ffffff"/>
              </a:solidFill>
              <a:effectLst/>
              <a:uFillTx/>
              <a:latin typeface="Arial"/>
            </a:endParaRPr>
          </a:p>
        </p:txBody>
      </p:sp>
      <p:sp>
        <p:nvSpPr>
          <p:cNvPr id="218" name="Rounded Rectangle 8"/>
          <p:cNvSpPr/>
          <p:nvPr/>
        </p:nvSpPr>
        <p:spPr>
          <a:xfrm>
            <a:off x="731520" y="2011680"/>
            <a:ext cx="6583320" cy="3885840"/>
          </a:xfrm>
          <a:prstGeom prst="roundRect">
            <a:avLst>
              <a:gd name="adj" fmla="val 16667"/>
            </a:avLst>
          </a:prstGeom>
          <a:solidFill>
            <a:srgbClr val="162442"/>
          </a:solidFill>
          <a:ln w="12700">
            <a:solidFill>
              <a:srgbClr val="498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19" name="TextBox 9"/>
          <p:cNvSpPr/>
          <p:nvPr/>
        </p:nvSpPr>
        <p:spPr>
          <a:xfrm>
            <a:off x="1024200" y="2304360"/>
            <a:ext cx="5851800" cy="319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400" b="1" u="none" strike="noStrike">
                <a:solidFill>
                  <a:srgbClr val="2bdceb"/>
                </a:solidFill>
                <a:effectLst/>
                <a:uFillTx/>
                <a:latin typeface="Aptos"/>
              </a:rPr>
              <a:t>REQUISITOS</a:t>
            </a:r>
            <a:endParaRPr lang="es-CO" sz="1400" b="0" u="none" strike="noStrike">
              <a:solidFill>
                <a:srgbClr val="ffffff"/>
              </a:solidFill>
              <a:effectLst/>
              <a:uFillTx/>
              <a:latin typeface="Arial"/>
            </a:endParaRPr>
          </a:p>
        </p:txBody>
      </p:sp>
      <p:sp>
        <p:nvSpPr>
          <p:cNvPr id="220" name="TextBox 10"/>
          <p:cNvSpPr/>
          <p:nvPr/>
        </p:nvSpPr>
        <p:spPr>
          <a:xfrm>
            <a:off x="1051560" y="2788920"/>
            <a:ext cx="219240" cy="328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700" b="1" u="none" strike="noStrike">
                <a:solidFill>
                  <a:srgbClr val="2bdceb"/>
                </a:solidFill>
                <a:effectLst/>
                <a:uFillTx/>
                <a:latin typeface="Aptos"/>
              </a:rPr>
              <a:t>•</a:t>
            </a:r>
            <a:endParaRPr lang="es-CO" sz="1700" b="0" u="none" strike="noStrike">
              <a:solidFill>
                <a:srgbClr val="ffffff"/>
              </a:solidFill>
              <a:effectLst/>
              <a:uFillTx/>
              <a:latin typeface="Arial"/>
            </a:endParaRPr>
          </a:p>
        </p:txBody>
      </p:sp>
      <p:sp>
        <p:nvSpPr>
          <p:cNvPr id="221" name="TextBox 11"/>
          <p:cNvSpPr/>
          <p:nvPr/>
        </p:nvSpPr>
        <p:spPr>
          <a:xfrm>
            <a:off x="1307520" y="2788920"/>
            <a:ext cx="555012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500" b="0" u="none" strike="noStrike">
                <a:solidFill>
                  <a:srgbClr val="f2f7ff"/>
                </a:solidFill>
                <a:effectLst/>
                <a:uFillTx/>
                <a:latin typeface="Aptos"/>
              </a:rPr>
              <a:t>Crear index.html y script.js</a:t>
            </a:r>
            <a:endParaRPr lang="es-CO" sz="1500" b="0" u="none" strike="noStrike">
              <a:solidFill>
                <a:srgbClr val="ffffff"/>
              </a:solidFill>
              <a:effectLst/>
              <a:uFillTx/>
              <a:latin typeface="Arial"/>
            </a:endParaRPr>
          </a:p>
        </p:txBody>
      </p:sp>
      <p:sp>
        <p:nvSpPr>
          <p:cNvPr id="222" name="TextBox 12"/>
          <p:cNvSpPr/>
          <p:nvPr/>
        </p:nvSpPr>
        <p:spPr>
          <a:xfrm>
            <a:off x="1051560" y="3319200"/>
            <a:ext cx="219240" cy="328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700" b="1" u="none" strike="noStrike">
                <a:solidFill>
                  <a:srgbClr val="2bdceb"/>
                </a:solidFill>
                <a:effectLst/>
                <a:uFillTx/>
                <a:latin typeface="Aptos"/>
              </a:rPr>
              <a:t>•</a:t>
            </a:r>
            <a:endParaRPr lang="es-CO" sz="1700" b="0" u="none" strike="noStrike">
              <a:solidFill>
                <a:srgbClr val="ffffff"/>
              </a:solidFill>
              <a:effectLst/>
              <a:uFillTx/>
              <a:latin typeface="Arial"/>
            </a:endParaRPr>
          </a:p>
        </p:txBody>
      </p:sp>
      <p:sp>
        <p:nvSpPr>
          <p:cNvPr id="223" name="TextBox 13"/>
          <p:cNvSpPr/>
          <p:nvPr/>
        </p:nvSpPr>
        <p:spPr>
          <a:xfrm>
            <a:off x="1307520" y="3319200"/>
            <a:ext cx="555012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500" b="0" u="none" strike="noStrike">
                <a:solidFill>
                  <a:srgbClr val="f2f7ff"/>
                </a:solidFill>
                <a:effectLst/>
                <a:uFillTx/>
                <a:latin typeface="Aptos"/>
              </a:rPr>
              <a:t>Añadir un botón para pedir ubicación</a:t>
            </a:r>
            <a:endParaRPr lang="es-CO" sz="1500" b="0" u="none" strike="noStrike">
              <a:solidFill>
                <a:srgbClr val="ffffff"/>
              </a:solidFill>
              <a:effectLst/>
              <a:uFillTx/>
              <a:latin typeface="Arial"/>
            </a:endParaRPr>
          </a:p>
        </p:txBody>
      </p:sp>
      <p:sp>
        <p:nvSpPr>
          <p:cNvPr id="224" name="TextBox 14"/>
          <p:cNvSpPr/>
          <p:nvPr/>
        </p:nvSpPr>
        <p:spPr>
          <a:xfrm>
            <a:off x="1051560" y="3849480"/>
            <a:ext cx="219240" cy="328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700" b="1" u="none" strike="noStrike">
                <a:solidFill>
                  <a:srgbClr val="2bdceb"/>
                </a:solidFill>
                <a:effectLst/>
                <a:uFillTx/>
                <a:latin typeface="Aptos"/>
              </a:rPr>
              <a:t>•</a:t>
            </a:r>
            <a:endParaRPr lang="es-CO" sz="1700" b="0" u="none" strike="noStrike">
              <a:solidFill>
                <a:srgbClr val="ffffff"/>
              </a:solidFill>
              <a:effectLst/>
              <a:uFillTx/>
              <a:latin typeface="Arial"/>
            </a:endParaRPr>
          </a:p>
        </p:txBody>
      </p:sp>
      <p:sp>
        <p:nvSpPr>
          <p:cNvPr id="225" name="TextBox 15"/>
          <p:cNvSpPr/>
          <p:nvPr/>
        </p:nvSpPr>
        <p:spPr>
          <a:xfrm>
            <a:off x="1307520" y="3849480"/>
            <a:ext cx="555012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500" b="0" u="none" strike="noStrike">
                <a:solidFill>
                  <a:srgbClr val="f2f7ff"/>
                </a:solidFill>
                <a:effectLst/>
                <a:uFillTx/>
                <a:latin typeface="Aptos"/>
              </a:rPr>
              <a:t>Mostrar latitud, longitud y precisión</a:t>
            </a:r>
            <a:endParaRPr lang="es-CO" sz="1500" b="0" u="none" strike="noStrike">
              <a:solidFill>
                <a:srgbClr val="ffffff"/>
              </a:solidFill>
              <a:effectLst/>
              <a:uFillTx/>
              <a:latin typeface="Arial"/>
            </a:endParaRPr>
          </a:p>
        </p:txBody>
      </p:sp>
      <p:sp>
        <p:nvSpPr>
          <p:cNvPr id="226" name="TextBox 16"/>
          <p:cNvSpPr/>
          <p:nvPr/>
        </p:nvSpPr>
        <p:spPr>
          <a:xfrm>
            <a:off x="1051560" y="4380120"/>
            <a:ext cx="219240" cy="328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700" b="1" u="none" strike="noStrike">
                <a:solidFill>
                  <a:srgbClr val="2bdceb"/>
                </a:solidFill>
                <a:effectLst/>
                <a:uFillTx/>
                <a:latin typeface="Aptos"/>
              </a:rPr>
              <a:t>•</a:t>
            </a:r>
            <a:endParaRPr lang="es-CO" sz="1700" b="0" u="none" strike="noStrike">
              <a:solidFill>
                <a:srgbClr val="ffffff"/>
              </a:solidFill>
              <a:effectLst/>
              <a:uFillTx/>
              <a:latin typeface="Arial"/>
            </a:endParaRPr>
          </a:p>
        </p:txBody>
      </p:sp>
      <p:sp>
        <p:nvSpPr>
          <p:cNvPr id="227" name="TextBox 17"/>
          <p:cNvSpPr/>
          <p:nvPr/>
        </p:nvSpPr>
        <p:spPr>
          <a:xfrm>
            <a:off x="1307520" y="4380120"/>
            <a:ext cx="555012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500" b="0" u="none" strike="noStrike">
                <a:solidFill>
                  <a:srgbClr val="f2f7ff"/>
                </a:solidFill>
                <a:effectLst/>
                <a:uFillTx/>
                <a:latin typeface="Aptos"/>
              </a:rPr>
              <a:t>Crear un enlace a Google Maps</a:t>
            </a:r>
            <a:endParaRPr lang="es-CO" sz="1500" b="0" u="none" strike="noStrike">
              <a:solidFill>
                <a:srgbClr val="ffffff"/>
              </a:solidFill>
              <a:effectLst/>
              <a:uFillTx/>
              <a:latin typeface="Arial"/>
            </a:endParaRPr>
          </a:p>
        </p:txBody>
      </p:sp>
      <p:sp>
        <p:nvSpPr>
          <p:cNvPr id="228" name="TextBox 18"/>
          <p:cNvSpPr/>
          <p:nvPr/>
        </p:nvSpPr>
        <p:spPr>
          <a:xfrm>
            <a:off x="1051560" y="4910400"/>
            <a:ext cx="219240" cy="328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700" b="1" u="none" strike="noStrike">
                <a:solidFill>
                  <a:srgbClr val="2bdceb"/>
                </a:solidFill>
                <a:effectLst/>
                <a:uFillTx/>
                <a:latin typeface="Aptos"/>
              </a:rPr>
              <a:t>•</a:t>
            </a:r>
            <a:endParaRPr lang="es-CO" sz="1700" b="0" u="none" strike="noStrike">
              <a:solidFill>
                <a:srgbClr val="ffffff"/>
              </a:solidFill>
              <a:effectLst/>
              <a:uFillTx/>
              <a:latin typeface="Arial"/>
            </a:endParaRPr>
          </a:p>
        </p:txBody>
      </p:sp>
      <p:sp>
        <p:nvSpPr>
          <p:cNvPr id="229" name="TextBox 19"/>
          <p:cNvSpPr/>
          <p:nvPr/>
        </p:nvSpPr>
        <p:spPr>
          <a:xfrm>
            <a:off x="1307520" y="4910400"/>
            <a:ext cx="555012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500" b="0" u="none" strike="noStrike">
                <a:solidFill>
                  <a:srgbClr val="f2f7ff"/>
                </a:solidFill>
                <a:effectLst/>
                <a:uFillTx/>
                <a:latin typeface="Aptos"/>
              </a:rPr>
              <a:t>Manejar errores y probar en localhost</a:t>
            </a:r>
            <a:endParaRPr lang="es-CO" sz="1500" b="0" u="none" strike="noStrike">
              <a:solidFill>
                <a:srgbClr val="ffffff"/>
              </a:solidFill>
              <a:effectLst/>
              <a:uFillTx/>
              <a:latin typeface="Arial"/>
            </a:endParaRPr>
          </a:p>
        </p:txBody>
      </p:sp>
      <p:sp>
        <p:nvSpPr>
          <p:cNvPr id="230" name="Rounded Rectangle 20"/>
          <p:cNvSpPr/>
          <p:nvPr/>
        </p:nvSpPr>
        <p:spPr>
          <a:xfrm>
            <a:off x="7726680" y="2011680"/>
            <a:ext cx="3611520" cy="3885840"/>
          </a:xfrm>
          <a:prstGeom prst="roundRect">
            <a:avLst>
              <a:gd name="adj" fmla="val 16667"/>
            </a:avLst>
          </a:prstGeom>
          <a:solidFill>
            <a:srgbClr val="080b17"/>
          </a:solidFill>
          <a:ln w="12700">
            <a:solidFill>
              <a:srgbClr val="40de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31" name="TextBox 21"/>
          <p:cNvSpPr/>
          <p:nvPr/>
        </p:nvSpPr>
        <p:spPr>
          <a:xfrm>
            <a:off x="8001000" y="2331720"/>
            <a:ext cx="3017160" cy="319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200" b="1" u="none" strike="noStrike">
                <a:solidFill>
                  <a:srgbClr val="40dea0"/>
                </a:solidFill>
                <a:effectLst/>
                <a:uFillTx/>
                <a:latin typeface="Aptos"/>
              </a:rPr>
              <a:t>PISTA DE CÓDIGO</a:t>
            </a:r>
            <a:endParaRPr lang="es-CO" sz="1200" b="0" u="none" strike="noStrike">
              <a:solidFill>
                <a:srgbClr val="ffffff"/>
              </a:solidFill>
              <a:effectLst/>
              <a:uFillTx/>
              <a:latin typeface="Arial"/>
            </a:endParaRPr>
          </a:p>
        </p:txBody>
      </p:sp>
      <p:sp>
        <p:nvSpPr>
          <p:cNvPr id="232" name="TextBox 22"/>
          <p:cNvSpPr/>
          <p:nvPr/>
        </p:nvSpPr>
        <p:spPr>
          <a:xfrm>
            <a:off x="8001000" y="2880360"/>
            <a:ext cx="2971440" cy="8226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500" b="1" u="none" strike="noStrike">
                <a:solidFill>
                  <a:srgbClr val="f2f7ff"/>
                </a:solidFill>
                <a:effectLst/>
                <a:uFillTx/>
                <a:latin typeface="Cascadia Code"/>
              </a:rPr>
              <a:t>posicion.coords.latitude</a:t>
            </a:r>
            <a:endParaRPr lang="es-CO" sz="1500" b="0" u="none" strike="noStrike">
              <a:solidFill>
                <a:srgbClr val="ffffff"/>
              </a:solidFill>
              <a:effectLst/>
              <a:uFillTx/>
              <a:latin typeface="Arial"/>
            </a:endParaRPr>
          </a:p>
        </p:txBody>
      </p:sp>
      <p:sp>
        <p:nvSpPr>
          <p:cNvPr id="233" name="TextBox 23"/>
          <p:cNvSpPr/>
          <p:nvPr/>
        </p:nvSpPr>
        <p:spPr>
          <a:xfrm>
            <a:off x="8001000" y="3794760"/>
            <a:ext cx="2971440" cy="8226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500" b="1" u="none" strike="noStrike">
                <a:solidFill>
                  <a:srgbClr val="f2f7ff"/>
                </a:solidFill>
                <a:effectLst/>
                <a:uFillTx/>
                <a:latin typeface="Cascadia Code"/>
              </a:rPr>
              <a:t>posicion.coords.longitude</a:t>
            </a:r>
            <a:endParaRPr lang="es-CO" sz="1500" b="0" u="none" strike="noStrike">
              <a:solidFill>
                <a:srgbClr val="ffffff"/>
              </a:solidFill>
              <a:effectLst/>
              <a:uFillTx/>
              <a:latin typeface="Arial"/>
            </a:endParaRPr>
          </a:p>
        </p:txBody>
      </p:sp>
      <p:sp>
        <p:nvSpPr>
          <p:cNvPr id="234" name="TextBox 24"/>
          <p:cNvSpPr/>
          <p:nvPr/>
        </p:nvSpPr>
        <p:spPr>
          <a:xfrm>
            <a:off x="8001000" y="4800600"/>
            <a:ext cx="2834280" cy="5940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400" b="1" u="none" strike="noStrike">
                <a:solidFill>
                  <a:srgbClr val="ffae52"/>
                </a:solidFill>
                <a:effectLst/>
                <a:uFillTx/>
                <a:latin typeface="Aptos"/>
              </a:rPr>
              <a:t>Evaluación: 10 puntos</a:t>
            </a:r>
            <a:endParaRPr lang="es-CO"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d1d"/>
        </a:solidFill>
      </p:bgPr>
    </p:bg>
    <p:spTree>
      <p:nvGrpSpPr>
        <p:cNvPr id="1" name=""/>
        <p:cNvGrpSpPr/>
        <p:nvPr/>
      </p:nvGrpSpPr>
      <p:grpSpPr>
        <a:xfrm>
          <a:off x="0" y="0"/>
          <a:ext cx="0" cy="0"/>
          <a:chOff x="0" y="0"/>
          <a:chExt cx="0" cy="0"/>
        </a:xfrm>
      </p:grpSpPr>
      <p:sp>
        <p:nvSpPr>
          <p:cNvPr id="235" name="Oval 1"/>
          <p:cNvSpPr/>
          <p:nvPr/>
        </p:nvSpPr>
        <p:spPr>
          <a:xfrm>
            <a:off x="10607040" y="-548640"/>
            <a:ext cx="2377080" cy="2377080"/>
          </a:xfrm>
          <a:prstGeom prst="ellipse">
            <a:avLst/>
          </a:prstGeom>
          <a:solidFill>
            <a:srgbClr val="498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36" name="Oval 2"/>
          <p:cNvSpPr/>
          <p:nvPr/>
        </p:nvSpPr>
        <p:spPr>
          <a:xfrm>
            <a:off x="-822960" y="5394960"/>
            <a:ext cx="1828440" cy="1828440"/>
          </a:xfrm>
          <a:prstGeom prst="ellipse">
            <a:avLst/>
          </a:prstGeom>
          <a:solidFill>
            <a:srgbClr val="9b6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37" name="Oval 3"/>
          <p:cNvSpPr/>
          <p:nvPr/>
        </p:nvSpPr>
        <p:spPr>
          <a:xfrm>
            <a:off x="9875520" y="5852160"/>
            <a:ext cx="1096920" cy="1096920"/>
          </a:xfrm>
          <a:prstGeom prst="ellipse">
            <a:avLst/>
          </a:prstGeom>
          <a:solidFill>
            <a:srgbClr val="2bdc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38" name="TextBox 4"/>
          <p:cNvSpPr/>
          <p:nvPr/>
        </p:nvSpPr>
        <p:spPr>
          <a:xfrm>
            <a:off x="640080" y="384120"/>
            <a:ext cx="7772040" cy="2923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100" b="1" u="none" strike="noStrike">
                <a:solidFill>
                  <a:srgbClr val="2bdceb"/>
                </a:solidFill>
                <a:effectLst/>
                <a:uFillTx/>
                <a:latin typeface="Aptos"/>
              </a:rPr>
              <a:t>09 · CIERRE</a:t>
            </a:r>
            <a:endParaRPr lang="es-CO" sz="1100" b="0" u="none" strike="noStrike">
              <a:solidFill>
                <a:srgbClr val="ffffff"/>
              </a:solidFill>
              <a:effectLst/>
              <a:uFillTx/>
              <a:latin typeface="Arial"/>
            </a:endParaRPr>
          </a:p>
        </p:txBody>
      </p:sp>
      <p:sp>
        <p:nvSpPr>
          <p:cNvPr id="239" name="TextBox 5"/>
          <p:cNvSpPr/>
          <p:nvPr/>
        </p:nvSpPr>
        <p:spPr>
          <a:xfrm>
            <a:off x="640080" y="749880"/>
            <a:ext cx="10789560" cy="6213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3000" b="1" u="none" strike="noStrike">
                <a:solidFill>
                  <a:srgbClr val="f2f7ff"/>
                </a:solidFill>
                <a:effectLst/>
                <a:uFillTx/>
                <a:latin typeface="Aptos"/>
              </a:rPr>
              <a:t>¿Qué aprendimos?</a:t>
            </a:r>
            <a:endParaRPr lang="es-CO" sz="3000" b="0" u="none" strike="noStrike">
              <a:solidFill>
                <a:srgbClr val="ffffff"/>
              </a:solidFill>
              <a:effectLst/>
              <a:uFillTx/>
              <a:latin typeface="Arial"/>
            </a:endParaRPr>
          </a:p>
        </p:txBody>
      </p:sp>
      <p:sp>
        <p:nvSpPr>
          <p:cNvPr id="240" name="TextBox 6"/>
          <p:cNvSpPr/>
          <p:nvPr/>
        </p:nvSpPr>
        <p:spPr>
          <a:xfrm>
            <a:off x="676800" y="1398960"/>
            <a:ext cx="10515240" cy="4384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400" b="0" u="none" strike="noStrike">
                <a:solidFill>
                  <a:srgbClr val="a6b7d3"/>
                </a:solidFill>
                <a:effectLst/>
                <a:uFillTx/>
                <a:latin typeface="Aptos"/>
              </a:rPr>
              <a:t>La geolocalización conecta una página web con la ubicación del dispositivo.</a:t>
            </a:r>
            <a:endParaRPr lang="es-CO" sz="1400" b="0" u="none" strike="noStrike">
              <a:solidFill>
                <a:srgbClr val="ffffff"/>
              </a:solidFill>
              <a:effectLst/>
              <a:uFillTx/>
              <a:latin typeface="Arial"/>
            </a:endParaRPr>
          </a:p>
        </p:txBody>
      </p:sp>
      <p:sp>
        <p:nvSpPr>
          <p:cNvPr id="241" name="TextBox 7"/>
          <p:cNvSpPr/>
          <p:nvPr/>
        </p:nvSpPr>
        <p:spPr>
          <a:xfrm>
            <a:off x="11064240" y="6446520"/>
            <a:ext cx="502560" cy="2282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lang="en-US" sz="1000" b="1" u="none" strike="noStrike">
                <a:solidFill>
                  <a:srgbClr val="a6b7d3"/>
                </a:solidFill>
                <a:effectLst/>
                <a:uFillTx/>
                <a:latin typeface="Aptos"/>
              </a:rPr>
              <a:t>10/10</a:t>
            </a:r>
            <a:endParaRPr lang="es-CO" sz="1000" b="0" u="none" strike="noStrike">
              <a:solidFill>
                <a:srgbClr val="ffffff"/>
              </a:solidFill>
              <a:effectLst/>
              <a:uFillTx/>
              <a:latin typeface="Arial"/>
            </a:endParaRPr>
          </a:p>
        </p:txBody>
      </p:sp>
      <p:sp>
        <p:nvSpPr>
          <p:cNvPr id="242" name="Rounded Rectangle 8"/>
          <p:cNvSpPr/>
          <p:nvPr/>
        </p:nvSpPr>
        <p:spPr>
          <a:xfrm>
            <a:off x="777240" y="2011680"/>
            <a:ext cx="6583320" cy="3245760"/>
          </a:xfrm>
          <a:prstGeom prst="roundRect">
            <a:avLst>
              <a:gd name="adj" fmla="val 16667"/>
            </a:avLst>
          </a:prstGeom>
          <a:solidFill>
            <a:srgbClr val="162442"/>
          </a:solidFill>
          <a:ln w="12700">
            <a:solidFill>
              <a:srgbClr val="2bdc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43" name="TextBox 9"/>
          <p:cNvSpPr/>
          <p:nvPr/>
        </p:nvSpPr>
        <p:spPr>
          <a:xfrm>
            <a:off x="1078920" y="2395800"/>
            <a:ext cx="219240" cy="328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800" b="1" u="none" strike="noStrike">
                <a:solidFill>
                  <a:srgbClr val="2bdceb"/>
                </a:solidFill>
                <a:effectLst/>
                <a:uFillTx/>
                <a:latin typeface="Aptos"/>
              </a:rPr>
              <a:t>•</a:t>
            </a:r>
            <a:endParaRPr lang="es-CO" sz="1800" b="0" u="none" strike="noStrike">
              <a:solidFill>
                <a:srgbClr val="ffffff"/>
              </a:solidFill>
              <a:effectLst/>
              <a:uFillTx/>
              <a:latin typeface="Arial"/>
            </a:endParaRPr>
          </a:p>
        </p:txBody>
      </p:sp>
      <p:sp>
        <p:nvSpPr>
          <p:cNvPr id="244" name="TextBox 10"/>
          <p:cNvSpPr/>
          <p:nvPr/>
        </p:nvSpPr>
        <p:spPr>
          <a:xfrm>
            <a:off x="1334880" y="2395800"/>
            <a:ext cx="559584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600" b="0" u="none" strike="noStrike">
                <a:solidFill>
                  <a:srgbClr val="f2f7ff"/>
                </a:solidFill>
                <a:effectLst/>
                <a:uFillTx/>
                <a:latin typeface="Aptos"/>
              </a:rPr>
              <a:t>La API se accede con navigator.geolocation.</a:t>
            </a:r>
            <a:endParaRPr lang="es-CO" sz="1600" b="0" u="none" strike="noStrike">
              <a:solidFill>
                <a:srgbClr val="ffffff"/>
              </a:solidFill>
              <a:effectLst/>
              <a:uFillTx/>
              <a:latin typeface="Arial"/>
            </a:endParaRPr>
          </a:p>
        </p:txBody>
      </p:sp>
      <p:sp>
        <p:nvSpPr>
          <p:cNvPr id="245" name="TextBox 11"/>
          <p:cNvSpPr/>
          <p:nvPr/>
        </p:nvSpPr>
        <p:spPr>
          <a:xfrm>
            <a:off x="1078920" y="3017520"/>
            <a:ext cx="219240" cy="328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800" b="1" u="none" strike="noStrike">
                <a:solidFill>
                  <a:srgbClr val="2bdceb"/>
                </a:solidFill>
                <a:effectLst/>
                <a:uFillTx/>
                <a:latin typeface="Aptos"/>
              </a:rPr>
              <a:t>•</a:t>
            </a:r>
            <a:endParaRPr lang="es-CO" sz="1800" b="0" u="none" strike="noStrike">
              <a:solidFill>
                <a:srgbClr val="ffffff"/>
              </a:solidFill>
              <a:effectLst/>
              <a:uFillTx/>
              <a:latin typeface="Arial"/>
            </a:endParaRPr>
          </a:p>
        </p:txBody>
      </p:sp>
      <p:sp>
        <p:nvSpPr>
          <p:cNvPr id="246" name="TextBox 12"/>
          <p:cNvSpPr/>
          <p:nvPr/>
        </p:nvSpPr>
        <p:spPr>
          <a:xfrm>
            <a:off x="1334880" y="3017520"/>
            <a:ext cx="559584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600" b="0" u="none" strike="noStrike">
                <a:solidFill>
                  <a:srgbClr val="f2f7ff"/>
                </a:solidFill>
                <a:effectLst/>
                <a:uFillTx/>
                <a:latin typeface="Aptos"/>
              </a:rPr>
              <a:t>getCurrentPosition() obtiene una posición.</a:t>
            </a:r>
            <a:endParaRPr lang="es-CO" sz="1600" b="0" u="none" strike="noStrike">
              <a:solidFill>
                <a:srgbClr val="ffffff"/>
              </a:solidFill>
              <a:effectLst/>
              <a:uFillTx/>
              <a:latin typeface="Arial"/>
            </a:endParaRPr>
          </a:p>
        </p:txBody>
      </p:sp>
      <p:sp>
        <p:nvSpPr>
          <p:cNvPr id="247" name="TextBox 13"/>
          <p:cNvSpPr/>
          <p:nvPr/>
        </p:nvSpPr>
        <p:spPr>
          <a:xfrm>
            <a:off x="1078920" y="3639240"/>
            <a:ext cx="219240" cy="328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800" b="1" u="none" strike="noStrike">
                <a:solidFill>
                  <a:srgbClr val="2bdceb"/>
                </a:solidFill>
                <a:effectLst/>
                <a:uFillTx/>
                <a:latin typeface="Aptos"/>
              </a:rPr>
              <a:t>•</a:t>
            </a:r>
            <a:endParaRPr lang="es-CO" sz="1800" b="0" u="none" strike="noStrike">
              <a:solidFill>
                <a:srgbClr val="ffffff"/>
              </a:solidFill>
              <a:effectLst/>
              <a:uFillTx/>
              <a:latin typeface="Arial"/>
            </a:endParaRPr>
          </a:p>
        </p:txBody>
      </p:sp>
      <p:sp>
        <p:nvSpPr>
          <p:cNvPr id="248" name="TextBox 14"/>
          <p:cNvSpPr/>
          <p:nvPr/>
        </p:nvSpPr>
        <p:spPr>
          <a:xfrm>
            <a:off x="1334880" y="3639240"/>
            <a:ext cx="559584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600" b="0" u="none" strike="noStrike">
                <a:solidFill>
                  <a:srgbClr val="f2f7ff"/>
                </a:solidFill>
                <a:effectLst/>
                <a:uFillTx/>
                <a:latin typeface="Aptos"/>
              </a:rPr>
              <a:t>Las coordenadas incluyen latitud, longitud y precisión.</a:t>
            </a:r>
            <a:endParaRPr lang="es-CO" sz="1600" b="0" u="none" strike="noStrike">
              <a:solidFill>
                <a:srgbClr val="ffffff"/>
              </a:solidFill>
              <a:effectLst/>
              <a:uFillTx/>
              <a:latin typeface="Arial"/>
            </a:endParaRPr>
          </a:p>
        </p:txBody>
      </p:sp>
      <p:sp>
        <p:nvSpPr>
          <p:cNvPr id="249" name="TextBox 15"/>
          <p:cNvSpPr/>
          <p:nvPr/>
        </p:nvSpPr>
        <p:spPr>
          <a:xfrm>
            <a:off x="1078920" y="4260960"/>
            <a:ext cx="219240" cy="328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800" b="1" u="none" strike="noStrike">
                <a:solidFill>
                  <a:srgbClr val="2bdceb"/>
                </a:solidFill>
                <a:effectLst/>
                <a:uFillTx/>
                <a:latin typeface="Aptos"/>
              </a:rPr>
              <a:t>•</a:t>
            </a:r>
            <a:endParaRPr lang="es-CO" sz="1800" b="0" u="none" strike="noStrike">
              <a:solidFill>
                <a:srgbClr val="ffffff"/>
              </a:solidFill>
              <a:effectLst/>
              <a:uFillTx/>
              <a:latin typeface="Arial"/>
            </a:endParaRPr>
          </a:p>
        </p:txBody>
      </p:sp>
      <p:sp>
        <p:nvSpPr>
          <p:cNvPr id="250" name="TextBox 16"/>
          <p:cNvSpPr/>
          <p:nvPr/>
        </p:nvSpPr>
        <p:spPr>
          <a:xfrm>
            <a:off x="1334880" y="4260960"/>
            <a:ext cx="5595840" cy="5025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600" b="0" u="none" strike="noStrike">
                <a:solidFill>
                  <a:srgbClr val="f2f7ff"/>
                </a:solidFill>
                <a:effectLst/>
                <a:uFillTx/>
                <a:latin typeface="Aptos"/>
              </a:rPr>
              <a:t>Permisos, seguridad y errores son parte de la solución.</a:t>
            </a:r>
            <a:endParaRPr lang="es-CO" sz="1600" b="0" u="none" strike="noStrike">
              <a:solidFill>
                <a:srgbClr val="ffffff"/>
              </a:solidFill>
              <a:effectLst/>
              <a:uFillTx/>
              <a:latin typeface="Arial"/>
            </a:endParaRPr>
          </a:p>
        </p:txBody>
      </p:sp>
      <p:sp>
        <p:nvSpPr>
          <p:cNvPr id="251" name="Rounded Rectangle 17"/>
          <p:cNvSpPr/>
          <p:nvPr/>
        </p:nvSpPr>
        <p:spPr>
          <a:xfrm>
            <a:off x="7726680" y="2011680"/>
            <a:ext cx="3611520" cy="3245760"/>
          </a:xfrm>
          <a:prstGeom prst="roundRect">
            <a:avLst>
              <a:gd name="adj" fmla="val 16667"/>
            </a:avLst>
          </a:prstGeom>
          <a:solidFill>
            <a:srgbClr val="10192f"/>
          </a:solidFill>
          <a:ln w="12700">
            <a:solidFill>
              <a:srgbClr val="9b6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52" name="TextBox 18"/>
          <p:cNvSpPr/>
          <p:nvPr/>
        </p:nvSpPr>
        <p:spPr>
          <a:xfrm>
            <a:off x="8001000" y="2359080"/>
            <a:ext cx="2971440" cy="319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200" b="1" u="none" strike="noStrike">
                <a:solidFill>
                  <a:srgbClr val="2bdceb"/>
                </a:solidFill>
                <a:effectLst/>
                <a:uFillTx/>
                <a:latin typeface="Aptos"/>
              </a:rPr>
              <a:t>FUENTES CONFIABLES</a:t>
            </a:r>
            <a:endParaRPr lang="es-CO" sz="1200" b="0" u="none" strike="noStrike">
              <a:solidFill>
                <a:srgbClr val="ffffff"/>
              </a:solidFill>
              <a:effectLst/>
              <a:uFillTx/>
              <a:latin typeface="Arial"/>
            </a:endParaRPr>
          </a:p>
        </p:txBody>
      </p:sp>
      <p:sp>
        <p:nvSpPr>
          <p:cNvPr id="253" name="TextBox 19"/>
          <p:cNvSpPr/>
          <p:nvPr/>
        </p:nvSpPr>
        <p:spPr>
          <a:xfrm>
            <a:off x="8001000" y="2834640"/>
            <a:ext cx="2834280" cy="6854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800" b="1" u="none" strike="noStrike">
                <a:solidFill>
                  <a:srgbClr val="f2f7ff"/>
                </a:solidFill>
                <a:effectLst/>
                <a:uFillTx/>
                <a:latin typeface="Aptos"/>
              </a:rPr>
              <a:t>MDN Web Docs</a:t>
            </a:r>
            <a:endParaRPr lang="es-CO" sz="1800" b="0" u="none" strike="noStrike">
              <a:solidFill>
                <a:srgbClr val="ffffff"/>
              </a:solidFill>
              <a:effectLst/>
              <a:uFillTx/>
              <a:latin typeface="Arial"/>
            </a:endParaRPr>
          </a:p>
        </p:txBody>
      </p:sp>
      <p:sp>
        <p:nvSpPr>
          <p:cNvPr id="254" name="TextBox 20"/>
          <p:cNvSpPr/>
          <p:nvPr/>
        </p:nvSpPr>
        <p:spPr>
          <a:xfrm>
            <a:off x="8001000" y="3429000"/>
            <a:ext cx="2788560" cy="1234080"/>
          </a:xfrm>
          <a:prstGeom prst="rect">
            <a:avLst/>
          </a:prstGeom>
          <a:noFill/>
          <a:ln w="0">
            <a:noFill/>
          </a:ln>
        </p:spPr>
        <p:style>
          <a:lnRef idx="0"/>
          <a:fillRef idx="0"/>
          <a:effectRef idx="0"/>
          <a:fontRef idx="minor"/>
        </p:style>
        <p:txBody>
          <a:bodyPr lIns="36720" rIns="36720" tIns="36720" bIns="36720" anchor="t">
            <a:spAutoFit/>
          </a:bodyPr>
          <a:p>
            <a:r>
              <a:rPr lang="en-US" sz="1300" b="0" u="none" strike="noStrike">
                <a:solidFill>
                  <a:srgbClr val="a6b7d3"/>
                </a:solidFill>
                <a:effectLst/>
                <a:uFillTx/>
                <a:latin typeface="Aptos"/>
              </a:rPr>
              <a:t>Geolocation API</a:t>
            </a:r>
            <a:endParaRPr lang="es-CO" sz="1300" b="0" u="none" strike="noStrike">
              <a:solidFill>
                <a:srgbClr val="ffffff"/>
              </a:solidFill>
              <a:effectLst/>
              <a:uFillTx/>
              <a:latin typeface="Arial"/>
            </a:endParaRPr>
          </a:p>
          <a:p>
            <a:r>
              <a:rPr lang="en-US" sz="1300" b="0" u="none" strike="noStrike">
                <a:solidFill>
                  <a:srgbClr val="a6b7d3"/>
                </a:solidFill>
                <a:effectLst/>
                <a:uFillTx/>
                <a:latin typeface="Aptos"/>
              </a:rPr>
              <a:t>getCurrentPosition()</a:t>
            </a:r>
            <a:endParaRPr lang="es-CO" sz="1300" b="0" u="none" strike="noStrike">
              <a:solidFill>
                <a:srgbClr val="ffffff"/>
              </a:solidFill>
              <a:effectLst/>
              <a:uFillTx/>
              <a:latin typeface="Arial"/>
            </a:endParaRPr>
          </a:p>
          <a:p>
            <a:pPr defTabSz="457200">
              <a:lnSpc>
                <a:spcPct val="100000"/>
              </a:lnSpc>
            </a:pPr>
            <a:r>
              <a:rPr lang="en-US" sz="1300" b="0" u="none" strike="noStrike">
                <a:solidFill>
                  <a:srgbClr val="a6b7d3"/>
                </a:solidFill>
                <a:effectLst/>
                <a:uFillTx/>
                <a:latin typeface="Aptos"/>
              </a:rPr>
              <a:t>watchPosition()</a:t>
            </a:r>
            <a:endParaRPr lang="es-CO" sz="1300" b="0" u="none" strike="noStrike">
              <a:solidFill>
                <a:srgbClr val="ffffff"/>
              </a:solidFill>
              <a:effectLst/>
              <a:uFillTx/>
              <a:latin typeface="Arial"/>
            </a:endParaRPr>
          </a:p>
        </p:txBody>
      </p:sp>
      <p:sp>
        <p:nvSpPr>
          <p:cNvPr id="255" name="TextBox 21"/>
          <p:cNvSpPr/>
          <p:nvPr/>
        </p:nvSpPr>
        <p:spPr>
          <a:xfrm>
            <a:off x="8001000" y="4681800"/>
            <a:ext cx="2742840" cy="4111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lang="en-US" sz="1200" b="1" u="none" strike="noStrike">
                <a:solidFill>
                  <a:srgbClr val="40dea0"/>
                </a:solidFill>
                <a:effectLst/>
                <a:uFillTx/>
                <a:latin typeface="Aptos"/>
              </a:rPr>
              <a:t>developer.mozilla.org</a:t>
            </a:r>
            <a:endParaRPr lang="es-CO" sz="1200" b="0" u="none" strike="noStrike">
              <a:solidFill>
                <a:srgbClr val="ffffff"/>
              </a:solidFill>
              <a:effectLst/>
              <a:uFillTx/>
              <a:latin typeface="Arial"/>
            </a:endParaRPr>
          </a:p>
        </p:txBody>
      </p:sp>
      <p:sp>
        <p:nvSpPr>
          <p:cNvPr id="256" name="TextBox 22"/>
          <p:cNvSpPr/>
          <p:nvPr/>
        </p:nvSpPr>
        <p:spPr>
          <a:xfrm>
            <a:off x="914400" y="5715000"/>
            <a:ext cx="10058040" cy="411120"/>
          </a:xfrm>
          <a:prstGeom prst="rect">
            <a:avLst/>
          </a:prstGeom>
          <a:noFill/>
          <a:ln w="0">
            <a:noFill/>
          </a:ln>
        </p:spPr>
        <p:style>
          <a:lnRef idx="0"/>
          <a:fillRef idx="0"/>
          <a:effectRef idx="0"/>
          <a:fontRef idx="minor"/>
        </p:style>
        <p:txBody>
          <a:bodyPr lIns="36720" rIns="36720" tIns="36720" bIns="36720" anchor="t">
            <a:spAutoFit/>
          </a:bodyPr>
          <a:p>
            <a:pPr algn="ctr" defTabSz="457200">
              <a:lnSpc>
                <a:spcPct val="100000"/>
              </a:lnSpc>
            </a:pPr>
            <a:r>
              <a:rPr lang="en-US" sz="2300" b="1" u="none" strike="noStrike">
                <a:solidFill>
                  <a:srgbClr val="f2f7ff"/>
                </a:solidFill>
                <a:effectLst/>
                <a:uFillTx/>
                <a:latin typeface="Aptos"/>
              </a:rPr>
              <a:t>Gracias. ¿Preguntas?</a:t>
            </a:r>
            <a:endParaRPr lang="es-CO" sz="2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LibreOffice/25.8.7.3$Linux_X86_64 LibreOffice_project/580$Build-3</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OpenAI</dc:creator>
  <dc:description>generated using python-pptx</dc:description>
  <cp:keywords>JavaScript Geolocalización API exposición GPS</cp:keywords>
  <dc:language>es-CO</dc:language>
  <cp:lastModifiedBy/>
  <dcterms:modified xsi:type="dcterms:W3CDTF">2026-10-26T15:54:54Z</dcterms:modified>
  <cp:revision>2</cp:revision>
  <dc:subject>Exposición teórico-práctica individual de 10–14 minutos</dc:subject>
  <dc:title>Geolocalización con JavaScript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